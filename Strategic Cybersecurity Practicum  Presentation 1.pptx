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Roboto"/>
      <p:regular r:id="rId18"/>
      <p:bold r:id="rId19"/>
      <p:italic r:id="rId20"/>
      <p:boldItalic r:id="rId21"/>
    </p:embeddedFont>
    <p:embeddedFont>
      <p:font typeface="Gill Sans"/>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ElEjwG4HJOVxEatfsIzsN83Ve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7.xml"/><Relationship Id="rId22" Type="http://schemas.openxmlformats.org/officeDocument/2006/relationships/font" Target="fonts/GillSans-regular.fntdata"/><Relationship Id="rId10" Type="http://schemas.openxmlformats.org/officeDocument/2006/relationships/slide" Target="slides/slide6.xml"/><Relationship Id="rId21" Type="http://schemas.openxmlformats.org/officeDocument/2006/relationships/font" Target="fonts/Roboto-boldItalic.fntdata"/><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Gill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bold.fntdata"/><Relationship Id="rId6" Type="http://schemas.openxmlformats.org/officeDocument/2006/relationships/slide" Target="slides/slide2.xml"/><Relationship Id="rId18" Type="http://schemas.openxmlformats.org/officeDocument/2006/relationships/font" Target="fonts/Robot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Hello, my name is Christopher Phan, and my associates are Shaquilla Chambers and Zach Zerger. We are here to discuss our future plans and implementation of a cybersecurity plan for Marriott International.</a:t>
            </a:r>
            <a:endParaRPr/>
          </a:p>
        </p:txBody>
      </p:sp>
      <p:sp>
        <p:nvSpPr>
          <p:cNvPr id="100" name="Google Shape;10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agenda in what we </a:t>
            </a:r>
            <a:r>
              <a:rPr lang="en-US"/>
              <a:t>are </a:t>
            </a:r>
            <a:r>
              <a:rPr lang="en-US"/>
              <a:t>planning to </a:t>
            </a:r>
            <a:r>
              <a:rPr lang="en-US"/>
              <a:t>discuss</a:t>
            </a:r>
            <a:r>
              <a:rPr lang="en-US"/>
              <a:t> throughout this presentation so you may understand the purpose of this new cybersecurity plan and what will be necessary for us to develop an effective and efficient plan that secures our stakeholders’ digital assets and defend Marriott International’s future and reputation.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Firstly we shall delve into Marriott International’s mission statement, vision, and core values so we may remind ourselves of the pillars that Marriott proudly stands on and how this cybersecurity plan will build upon those pillars.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Secondly we shall discuss our new IT philosophy that will highlight the necessity of this cybersecurity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third topic shall be about the reorganization of Marriott International’s security teams and how they will be oriented to support Marriott.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fourth topic will be about detailing Marriott International Security team’s mission, vision, and core values.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fifth topic will discuss the security challenges that Marriott International currently faces, giving reasoning why this cybersecurity plan needs to be implemented.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Lastly, we will discuss how both the business side and security side of Marriott intertwine and how they will be both supporting each other for future success.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9" name="Google Shape;10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These two statements are pivotal to Marriott International business and how it wants to grow.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mission statement is to create an environment for our clients that is the best possible experience for them, something that makes them to continually use our services and become loyal customers for any occasion that requires them to use Marriott.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vision statement is to be the greatest travel company in the world, the premiere provider of travel mediums and hospitality leisure services.</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299628424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main four core values that Marriott International and us hold ourselves 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want to emphasize everyone that interacts with Marriott International and bring our best foot forward to both employees and customers.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Innovation is highly important to us so we may stand above our competitors and show that we are willing to enact change to improve our customer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leads to our pursuit of excellence, everything that we do here in Marriott International we want to be the best in what we do, either it being simple hospitality and guest relations to employee growth and cybersecurity.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Lastly, our core values are highly dependent on integrity, our integrity to upholding ethics, our integrity to upholding the legal standards, but we want to do more to </a:t>
            </a:r>
            <a:r>
              <a:rPr lang="en-US"/>
              <a:t>enhance</a:t>
            </a:r>
            <a:r>
              <a:rPr lang="en-US"/>
              <a:t> both and more. Integrity is our responsibility to our stakeholders and we need to go above and beyond to show to ur customers that we care.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1" name="Google Shape;121;g2299628424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First it is important to establish what a IT philosophy even is and how it will change how Marriott International will operate. What a IT philosophy entails is the direction and the guiding principles of how a company will utilize information technology and assets. Marriott International, we believe, can take advantage of this IT philosophy to help create a culture of transparency for employees and the technology standards we want to uphold from now to the future. The main purpose of this IT philosophy to </a:t>
            </a:r>
            <a:r>
              <a:rPr lang="en-US"/>
              <a:t>redirect</a:t>
            </a:r>
            <a:r>
              <a:rPr lang="en-US"/>
              <a:t> our employees to safe digital use and reestablish the expectations we have concerning information technology.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IT philosophy will be more cybersecurity oriented to develop a secure online environment for both our customers and our employees.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detail the hardware and software requirements that necessitate a safe technology setting. This will include the hardware of workstations of both portable and stationed machines for employees, data centers to hold our digital assets, an installed hard firewall at all locations, servers including application, database, and web servers, network equipment like routers, and of course printing services that can be utilized by clients and employees alike. The software </a:t>
            </a:r>
            <a:r>
              <a:rPr lang="en-US"/>
              <a:t>requirements</a:t>
            </a:r>
            <a:r>
              <a:rPr lang="en-US"/>
              <a:t> will include soft firewalls that will be installed on all endpoints for employees creating a hybrid firewall environment, multiple operating systems like Linux/Apache and Microsoft Windows Server for our servers, intrusion prevention systems and VPNs, </a:t>
            </a:r>
            <a:r>
              <a:rPr lang="en-US"/>
              <a:t>anti-malware</a:t>
            </a:r>
            <a:r>
              <a:rPr lang="en-US"/>
              <a:t> applications, and lastly network monitoring tools for logging and analysis. These will be the baseline requirements for a secure network topology.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team orientation: most of our technology teams will be in-house to secure the transportation of digital assets. Only two teams will be outsourced: our helpdesk team and our external auditors that will work with our in-house auditors to create a redundant compliance 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 policy that is important for our employees to know is that we disallow the use of personal devices for work purposes, and that if any employees are required to work off-site or need any machines for their job function will be provided those machines from Marriott International directly. It is important that we bar the use of personal devices to help prevent the exfiltration of our digital assets outside of the company. Marriott International will allow the possibility of remote work, however this will </a:t>
            </a:r>
            <a:r>
              <a:rPr lang="en-US"/>
              <a:t>only</a:t>
            </a:r>
            <a:r>
              <a:rPr lang="en-US"/>
              <a:t> apply to employees that are capable of remote work for their job function and their productivity metrics will be analyzed to </a:t>
            </a:r>
            <a:r>
              <a:rPr lang="en-US"/>
              <a:t>determine</a:t>
            </a:r>
            <a:r>
              <a:rPr lang="en-US"/>
              <a:t> if remote work is effective for Marriott.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we want employees to help contribute to this IT philosophy to the best of their ability, so we want to emphasize employee awareness and training to increase our cyber hygiene and understand the importance of cybersecurity standards. Our company must develop this security culture from the baseline, thus every employee is vital to the success of our IT philosophy.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will now be directing this discussion to Shaquilla Chambers who will now begin to speak further on our security organization.</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Marriott’s IT </a:t>
            </a:r>
            <a:r>
              <a:rPr lang="en-US"/>
              <a:t>executives</a:t>
            </a:r>
            <a:r>
              <a:rPr lang="en-US"/>
              <a:t> consist of the CISO who is responsible for the overall information security strategy and ensuring the protection of sensitive data and information assets. The Global GRC team focuses on ensuring compliance with laws, regulations, and internal policies, and managing risks across the organization.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The Application Development team designs, develops, and maintains software applications and systems within the organization. The Infrastructure &amp; Operations team manages the organization's IT infrastructure, including networks, servers, and data centers, ensuring their availability and reliability.</a:t>
            </a:r>
            <a:endParaRPr/>
          </a:p>
          <a:p>
            <a:pPr indent="0" lvl="0" marL="0" rtl="0" algn="l">
              <a:lnSpc>
                <a:spcPct val="115000"/>
              </a:lnSpc>
              <a:spcBef>
                <a:spcPts val="0"/>
              </a:spcBef>
              <a:spcAft>
                <a:spcPts val="0"/>
              </a:spcAft>
              <a:buClr>
                <a:schemeClr val="dk1"/>
              </a:buClr>
              <a:buSzPts val="1100"/>
              <a:buFont typeface="Arial"/>
              <a:buNone/>
            </a:pPr>
            <a:r>
              <a:rPr lang="en-US"/>
              <a:t> </a:t>
            </a:r>
            <a:endParaRPr/>
          </a:p>
          <a:p>
            <a:pPr indent="0" lvl="0" marL="0" rtl="0" algn="l">
              <a:lnSpc>
                <a:spcPct val="115000"/>
              </a:lnSpc>
              <a:spcBef>
                <a:spcPts val="0"/>
              </a:spcBef>
              <a:spcAft>
                <a:spcPts val="0"/>
              </a:spcAft>
              <a:buClr>
                <a:schemeClr val="dk1"/>
              </a:buClr>
              <a:buSzPts val="1100"/>
              <a:buFont typeface="Arial"/>
              <a:buNone/>
            </a:pPr>
            <a:r>
              <a:rPr lang="en-US"/>
              <a:t>The IT Security team protects information assets, implements security controls, monitors for threats, and responds to security incidents. DPO (Data Protection Officer) &amp; General Counsel: The DPO ensures compliance with data protection regulations, while the General Counsel provides legal guidance and support to the organization.</a:t>
            </a:r>
            <a:endParaRPr/>
          </a:p>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457200" rtl="0" algn="l">
              <a:lnSpc>
                <a:spcPct val="115000"/>
              </a:lnSpc>
              <a:spcBef>
                <a:spcPts val="1500"/>
              </a:spcBef>
              <a:spcAft>
                <a:spcPts val="0"/>
              </a:spcAft>
              <a:buNone/>
            </a:pPr>
            <a:r>
              <a:rPr lang="en-US">
                <a:latin typeface="Roboto"/>
                <a:ea typeface="Roboto"/>
                <a:cs typeface="Roboto"/>
                <a:sym typeface="Roboto"/>
              </a:rPr>
              <a:t>The demand for cybersecurity experts is increasing rapidly due to the emergence of advanced attacks from threat actors. As technology evolves, so do the tactics used by hackers, making it crucial for us to have skilled professionals to defend against these threats. Our organization recognizes the importance of continuously improving our defense capabilities. </a:t>
            </a:r>
            <a:endParaRPr>
              <a:latin typeface="Roboto"/>
              <a:ea typeface="Roboto"/>
              <a:cs typeface="Roboto"/>
              <a:sym typeface="Roboto"/>
            </a:endParaRPr>
          </a:p>
          <a:p>
            <a:pPr indent="0" lvl="0" marL="457200" rtl="0" algn="l">
              <a:lnSpc>
                <a:spcPct val="115000"/>
              </a:lnSpc>
              <a:spcBef>
                <a:spcPts val="1500"/>
              </a:spcBef>
              <a:spcAft>
                <a:spcPts val="0"/>
              </a:spcAft>
              <a:buNone/>
            </a:pPr>
            <a:r>
              <a:rPr lang="en-US">
                <a:latin typeface="Roboto"/>
                <a:ea typeface="Roboto"/>
                <a:cs typeface="Roboto"/>
                <a:sym typeface="Roboto"/>
              </a:rPr>
              <a:t>Our appointed global data protection officers who play a vital role in keeping us informed about the latest data protection rules and regulations. They ensure our strict adherence to GDPR and US Data Protection laws, safeguarding our customers' personal information and maintaining the trust they place in our organization.</a:t>
            </a:r>
            <a:endParaRPr>
              <a:latin typeface="Roboto"/>
              <a:ea typeface="Roboto"/>
              <a:cs typeface="Roboto"/>
              <a:sym typeface="Roboto"/>
            </a:endParaRPr>
          </a:p>
          <a:p>
            <a:pPr indent="0" lvl="0" marL="0" rtl="0" algn="l">
              <a:spcBef>
                <a:spcPts val="0"/>
              </a:spcBef>
              <a:spcAft>
                <a:spcPts val="0"/>
              </a:spcAft>
              <a:buNone/>
            </a:pPr>
            <a:r>
              <a:t/>
            </a:r>
            <a:endParaRPr/>
          </a:p>
        </p:txBody>
      </p:sp>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Marriott's security organizational mission is to safeguard information assets from theft, disclosure, unauthorized access, and alteration. The security organization will maintain confidentiality, integrity, and availability of the company's information and systems.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Marriott's security vision is to meet stakeholder security expectations. The company strives to be an innovative, forward-thinking company that can lead the industry in information security practices. The company envisions an information security culture. A security-minded culture will ensure its prosperity as the leading hospitality company in the world.</a:t>
            </a:r>
            <a:endParaRPr/>
          </a:p>
          <a:p>
            <a:pPr indent="0" lvl="0" marL="0" rtl="0" algn="l">
              <a:spcBef>
                <a:spcPts val="0"/>
              </a:spcBef>
              <a:spcAft>
                <a:spcPts val="0"/>
              </a:spcAft>
              <a:buNone/>
            </a:pPr>
            <a:r>
              <a:t/>
            </a:r>
            <a:endParaRPr/>
          </a:p>
        </p:txBody>
      </p:sp>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Confidentiality, integrity, availability, and security awareness should make up </a:t>
            </a:r>
            <a:r>
              <a:rPr lang="en-US"/>
              <a:t>Marriott's</a:t>
            </a:r>
            <a:r>
              <a:rPr lang="en-US"/>
              <a:t> core security values as part of its cybersecurity strategy. Confidentiality is the company's ability to protect its information assets. It is essential to protect the company's proprietary and sensitive customer data. This is important not only for regulatory reasons but also affects the company's reputation and brand.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Data integrity is vital to Marriott. Customers expect their data to be accurate and reliable when interacting with the company. It is also essential that the company prevent unauthorized access changes to proprietary information through security controls.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availability of Marriott's network is also vital to the success of the company and customer expectations. The company needs to make sure that information systems are available to service the needs of associates and millions of customers.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With the growth of social engineering and phishing attacks, the company must embrace a security culture involving every employee. A security awareness program is one way to promote a security culture and protect the company from the human element. </a:t>
            </a:r>
            <a:endParaRPr/>
          </a:p>
          <a:p>
            <a:pPr indent="0" lvl="0" marL="0" rtl="0" algn="l">
              <a:spcBef>
                <a:spcPts val="0"/>
              </a:spcBef>
              <a:spcAft>
                <a:spcPts val="0"/>
              </a:spcAft>
              <a:buNone/>
            </a:pPr>
            <a:r>
              <a:t/>
            </a:r>
            <a:endParaRPr/>
          </a:p>
        </p:txBody>
      </p:sp>
      <p:sp>
        <p:nvSpPr>
          <p:cNvPr id="152" name="Google Shape;1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Data security has proven to be the biggest challenge for Marriott. The company has suffered three data breaches since 2018. The company collects a lot of customer, employee, and company data. It processes millions of reservations annually and has millions of reward members that utilize the company's reward application. The company has to focus on various security controls to reduce the risk of another breach.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Marriott is vulnerable to third party risks. The company uses cloud vendors, outsources its help desk, and relies on a network of different booking vendors. The company has to assess these companies' information security stance and make sure they are contractually obligated to protect any of Marriott's sensitive data. </a:t>
            </a:r>
            <a:endParaRPr/>
          </a:p>
          <a:p>
            <a:pPr indent="0" lvl="0" marL="0" rtl="0" algn="l">
              <a:spcBef>
                <a:spcPts val="0"/>
              </a:spcBef>
              <a:spcAft>
                <a:spcPts val="0"/>
              </a:spcAft>
              <a:buNone/>
            </a:pPr>
            <a:r>
              <a:t/>
            </a:r>
            <a:endParaRPr/>
          </a:p>
        </p:txBody>
      </p:sp>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52f3651d4c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Nineteen percent of all cyber attacks involved insider attacks over the past year (Data Breach Investigations Report, 2023). On the surface, nineteen percent may appear as a small challenge, but it poses a more significant challenge for Marriott. Marriott employs over 377,000 associates in over 8,000 locations. The company also has a unique franchisee relationship with most of its hotels. The number of employees and the special relationships make Marriott more vulnerable to insider threats.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Marriott has hotels in 138 countries and captures sensitive customer data. This makes navigating all the compliance and regulatory requirements in each region or country challenging. Recent security breaches have resulted in increased scrutiny from regulators, and the company is still paying legal fees and fines. The company has to ensure it is complying, or it may face steeper penalties in the future. </a:t>
            </a:r>
            <a:endParaRPr/>
          </a:p>
          <a:p>
            <a:pPr indent="0" lvl="0" marL="0" rtl="0" algn="l">
              <a:spcBef>
                <a:spcPts val="0"/>
              </a:spcBef>
              <a:spcAft>
                <a:spcPts val="0"/>
              </a:spcAft>
              <a:buNone/>
            </a:pPr>
            <a:r>
              <a:t/>
            </a:r>
            <a:endParaRPr/>
          </a:p>
        </p:txBody>
      </p:sp>
      <p:sp>
        <p:nvSpPr>
          <p:cNvPr id="166" name="Google Shape;166;g252f3651d4c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 conclusion, this strategic cybersecurity plan should not only be adopted by security staff; it needs to be communicated throughout the enterprise so that employees and stakeholders understand the overall mission, vision, values, and the vital part they play. Security culture must be implemented to ensure the company prospers in a high-security threat environment. Once this plan is implemented, the company needs to measure its effectiveness, reevaluate it, and continuously innovate and change it to meet the needs of an ever-changing cybersecurity field. </a:t>
            </a:r>
            <a:endParaRPr/>
          </a:p>
        </p:txBody>
      </p:sp>
      <p:sp>
        <p:nvSpPr>
          <p:cNvPr id="173" name="Google Shape;1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Any questions? </a:t>
            </a:r>
            <a:endParaRPr/>
          </a:p>
        </p:txBody>
      </p:sp>
      <p:sp>
        <p:nvSpPr>
          <p:cNvPr id="179" name="Google Shape;17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15"/>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2" name="Google Shape;22;p1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5"/>
          <p:cNvSpPr txBox="1"/>
          <p:nvPr>
            <p:ph idx="11" type="ftr"/>
          </p:nvPr>
        </p:nvSpPr>
        <p:spPr>
          <a:xfrm>
            <a:off x="-2991722" y="8918253"/>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ext, company name&#10;&#10;Description automatically generated" id="25" name="Google Shape;25;p15"/>
          <p:cNvPicPr preferRelativeResize="0"/>
          <p:nvPr/>
        </p:nvPicPr>
        <p:blipFill rotWithShape="1">
          <a:blip r:embed="rId2">
            <a:alphaModFix/>
          </a:blip>
          <a:srcRect b="0" l="0" r="0" t="0"/>
          <a:stretch/>
        </p:blipFill>
        <p:spPr>
          <a:xfrm>
            <a:off x="440286" y="6225325"/>
            <a:ext cx="2510732" cy="42100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16"/>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6"/>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6"/>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30" name="Google Shape;30;p16"/>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7"/>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7"/>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b="0" sz="360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7"/>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656"/>
              <a:buNone/>
              <a:defRPr sz="1800" cap="none">
                <a:solidFill>
                  <a:schemeClr val="accent2"/>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7" name="Google Shape;37;p1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18"/>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8"/>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4" name="Google Shape;44;p18"/>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1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19"/>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9"/>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9"/>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2" name="Google Shape;52;p19"/>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3" name="Google Shape;53;p19"/>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4" name="Google Shape;54;p19"/>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5" name="Google Shape;55;p1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20"/>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0"/>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22"/>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2"/>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D58AC"/>
              </a:buClr>
              <a:buSzPts val="2000"/>
              <a:buFont typeface="Gill Sans"/>
              <a:buNone/>
              <a:defRPr b="0" sz="200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72" name="Google Shape;72;p22"/>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spcBef>
                <a:spcPts val="220"/>
              </a:spcBef>
              <a:spcAft>
                <a:spcPts val="0"/>
              </a:spcAft>
              <a:buSzPts val="1012"/>
              <a:buNone/>
              <a:defRPr sz="1100">
                <a:solidFill>
                  <a:schemeClr val="lt1"/>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3" name="Google Shape;73;p22"/>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2"/>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23"/>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Gill Sans"/>
              <a:buNone/>
              <a:defRPr b="0" sz="2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p:nvPr>
            <p:ph idx="2" type="pic"/>
          </p:nvPr>
        </p:nvSpPr>
        <p:spPr>
          <a:xfrm>
            <a:off x="447817" y="599725"/>
            <a:ext cx="11290859" cy="3557252"/>
          </a:xfrm>
          <a:prstGeom prst="rect">
            <a:avLst/>
          </a:prstGeom>
          <a:noFill/>
          <a:ln>
            <a:noFill/>
          </a:ln>
        </p:spPr>
      </p:sp>
      <p:sp>
        <p:nvSpPr>
          <p:cNvPr id="79" name="Google Shape;79;p23"/>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spcBef>
                <a:spcPts val="240"/>
              </a:spcBef>
              <a:spcAft>
                <a:spcPts val="0"/>
              </a:spcAft>
              <a:buSzPts val="1104"/>
              <a:buNone/>
              <a:defRPr sz="12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80" name="Google Shape;80;p2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24"/>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4"/>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4"/>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22072" lvl="1" marL="914400" algn="l">
              <a:spcBef>
                <a:spcPts val="600"/>
              </a:spcBef>
              <a:spcAft>
                <a:spcPts val="0"/>
              </a:spcAft>
              <a:buSzPts val="1472"/>
              <a:buChar char="◼"/>
              <a:defRPr/>
            </a:lvl2pPr>
            <a:lvl3pPr indent="-310388" lvl="2" marL="1371600" algn="l">
              <a:spcBef>
                <a:spcPts val="600"/>
              </a:spcBef>
              <a:spcAft>
                <a:spcPts val="0"/>
              </a:spcAft>
              <a:buSzPts val="1288"/>
              <a:buChar char="◼"/>
              <a:defRPr/>
            </a:lvl3pPr>
            <a:lvl4pPr indent="-298703" lvl="3" marL="1828800" algn="l">
              <a:spcBef>
                <a:spcPts val="600"/>
              </a:spcBef>
              <a:spcAft>
                <a:spcPts val="0"/>
              </a:spcAft>
              <a:buSzPts val="1104"/>
              <a:buChar char="◼"/>
              <a:defRPr/>
            </a:lvl4pPr>
            <a:lvl5pPr indent="-298704" lvl="4" marL="2286000" algn="l">
              <a:spcBef>
                <a:spcPts val="600"/>
              </a:spcBef>
              <a:spcAft>
                <a:spcPts val="0"/>
              </a:spcAft>
              <a:buSzPts val="1104"/>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7" name="Google Shape;87;p2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25"/>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5"/>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5"/>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94" name="Google Shape;94;p25"/>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5"/>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4"/>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2" name="Google Shape;12;p1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1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1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2"/>
                </a:solidFill>
                <a:latin typeface="Gill Sans"/>
                <a:ea typeface="Gill Sans"/>
                <a:cs typeface="Gill Sans"/>
                <a:sym typeface="Gill Sans"/>
              </a:defRPr>
            </a:lvl1pPr>
            <a:lvl2pPr indent="0" lvl="1" marL="0" marR="0" rtl="0" algn="r">
              <a:spcBef>
                <a:spcPts val="0"/>
              </a:spcBef>
              <a:buNone/>
              <a:defRPr b="0" i="0" sz="900" u="none" cap="none" strike="noStrike">
                <a:solidFill>
                  <a:schemeClr val="accent2"/>
                </a:solidFill>
                <a:latin typeface="Gill Sans"/>
                <a:ea typeface="Gill Sans"/>
                <a:cs typeface="Gill Sans"/>
                <a:sym typeface="Gill Sans"/>
              </a:defRPr>
            </a:lvl2pPr>
            <a:lvl3pPr indent="0" lvl="2" marL="0" marR="0" rtl="0" algn="r">
              <a:spcBef>
                <a:spcPts val="0"/>
              </a:spcBef>
              <a:buNone/>
              <a:defRPr b="0" i="0" sz="900" u="none" cap="none" strike="noStrike">
                <a:solidFill>
                  <a:schemeClr val="accent2"/>
                </a:solidFill>
                <a:latin typeface="Gill Sans"/>
                <a:ea typeface="Gill Sans"/>
                <a:cs typeface="Gill Sans"/>
                <a:sym typeface="Gill Sans"/>
              </a:defRPr>
            </a:lvl3pPr>
            <a:lvl4pPr indent="0" lvl="3" marL="0" marR="0" rtl="0" algn="r">
              <a:spcBef>
                <a:spcPts val="0"/>
              </a:spcBef>
              <a:buNone/>
              <a:defRPr b="0" i="0" sz="900" u="none" cap="none" strike="noStrike">
                <a:solidFill>
                  <a:schemeClr val="accent2"/>
                </a:solidFill>
                <a:latin typeface="Gill Sans"/>
                <a:ea typeface="Gill Sans"/>
                <a:cs typeface="Gill Sans"/>
                <a:sym typeface="Gill Sans"/>
              </a:defRPr>
            </a:lvl4pPr>
            <a:lvl5pPr indent="0" lvl="4" marL="0" marR="0" rtl="0" algn="r">
              <a:spcBef>
                <a:spcPts val="0"/>
              </a:spcBef>
              <a:buNone/>
              <a:defRPr b="0" i="0" sz="900" u="none" cap="none" strike="noStrike">
                <a:solidFill>
                  <a:schemeClr val="accent2"/>
                </a:solidFill>
                <a:latin typeface="Gill Sans"/>
                <a:ea typeface="Gill Sans"/>
                <a:cs typeface="Gill Sans"/>
                <a:sym typeface="Gill Sans"/>
              </a:defRPr>
            </a:lvl5pPr>
            <a:lvl6pPr indent="0" lvl="5" marL="0" marR="0" rtl="0" algn="r">
              <a:spcBef>
                <a:spcPts val="0"/>
              </a:spcBef>
              <a:buNone/>
              <a:defRPr b="0" i="0" sz="900" u="none" cap="none" strike="noStrike">
                <a:solidFill>
                  <a:schemeClr val="accent2"/>
                </a:solidFill>
                <a:latin typeface="Gill Sans"/>
                <a:ea typeface="Gill Sans"/>
                <a:cs typeface="Gill Sans"/>
                <a:sym typeface="Gill Sans"/>
              </a:defRPr>
            </a:lvl6pPr>
            <a:lvl7pPr indent="0" lvl="6" marL="0" marR="0" rtl="0" algn="r">
              <a:spcBef>
                <a:spcPts val="0"/>
              </a:spcBef>
              <a:buNone/>
              <a:defRPr b="0" i="0" sz="900" u="none" cap="none" strike="noStrike">
                <a:solidFill>
                  <a:schemeClr val="accent2"/>
                </a:solidFill>
                <a:latin typeface="Gill Sans"/>
                <a:ea typeface="Gill Sans"/>
                <a:cs typeface="Gill Sans"/>
                <a:sym typeface="Gill Sans"/>
              </a:defRPr>
            </a:lvl7pPr>
            <a:lvl8pPr indent="0" lvl="7" marL="0" marR="0" rtl="0" algn="r">
              <a:spcBef>
                <a:spcPts val="0"/>
              </a:spcBef>
              <a:buNone/>
              <a:defRPr b="0" i="0" sz="900" u="none" cap="none" strike="noStrike">
                <a:solidFill>
                  <a:schemeClr val="accent2"/>
                </a:solidFill>
                <a:latin typeface="Gill Sans"/>
                <a:ea typeface="Gill Sans"/>
                <a:cs typeface="Gill Sans"/>
                <a:sym typeface="Gill Sans"/>
              </a:defRPr>
            </a:lvl8pPr>
            <a:lvl9pPr indent="0" lvl="8" marL="0" marR="0" rtl="0" algn="r">
              <a:spcBef>
                <a:spcPts val="0"/>
              </a:spcBef>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4"/>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4"/>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4"/>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www.verizon.com/business/resources/T4dc/reports/2023-data-breach-investigations-report-dbir.pdf" TargetMode="External"/><Relationship Id="rId4" Type="http://schemas.openxmlformats.org/officeDocument/2006/relationships/hyperlink" Target="https://gdpr-info.eu/" TargetMode="External"/><Relationship Id="rId5" Type="http://schemas.openxmlformats.org/officeDocument/2006/relationships/hyperlink" Target="https://marriott.gcs-web.com/static-files/b82978a6-9d28-4e38-9855-fc4ae2cebe11" TargetMode="External"/><Relationship Id="rId6" Type="http://schemas.openxmlformats.org/officeDocument/2006/relationships/hyperlink" Target="https://marriott.gcs-web.com/static-files/b82978a6-9d28-4e38-9855-fc4ae2cebe1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1"/>
          <p:cNvSpPr txBox="1"/>
          <p:nvPr>
            <p:ph type="title"/>
          </p:nvPr>
        </p:nvSpPr>
        <p:spPr>
          <a:xfrm>
            <a:off x="689769" y="646176"/>
            <a:ext cx="10698159" cy="107289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4000"/>
              <a:buFont typeface="Gill Sans"/>
              <a:buNone/>
            </a:pPr>
            <a:r>
              <a:rPr b="1" lang="en-US" sz="4000">
                <a:latin typeface="Gill Sans"/>
                <a:ea typeface="Gill Sans"/>
                <a:cs typeface="Gill Sans"/>
                <a:sym typeface="Gill Sans"/>
              </a:rPr>
              <a:t>MARRIOTT INTERNATIONAL’S STRATEGIC CYBERSECURITY PLAN </a:t>
            </a:r>
            <a:endParaRPr/>
          </a:p>
        </p:txBody>
      </p:sp>
      <p:sp>
        <p:nvSpPr>
          <p:cNvPr id="103" name="Google Shape;103;p1"/>
          <p:cNvSpPr txBox="1"/>
          <p:nvPr/>
        </p:nvSpPr>
        <p:spPr>
          <a:xfrm>
            <a:off x="296139" y="3920648"/>
            <a:ext cx="4095751" cy="158505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i="0" lang="en-US" sz="2000" u="none" cap="none" strike="noStrike">
                <a:solidFill>
                  <a:srgbClr val="262626"/>
                </a:solidFill>
                <a:latin typeface="Gill Sans"/>
                <a:ea typeface="Gill Sans"/>
                <a:cs typeface="Gill Sans"/>
                <a:sym typeface="Gill Sans"/>
              </a:rPr>
              <a:t>Christopher Phan</a:t>
            </a:r>
            <a:endParaRPr>
              <a:latin typeface="Gill Sans"/>
              <a:ea typeface="Gill Sans"/>
              <a:cs typeface="Gill Sans"/>
              <a:sym typeface="Gill Sans"/>
            </a:endParaRPr>
          </a:p>
          <a:p>
            <a:pPr indent="0" lvl="0" marL="0" marR="0" rtl="0" algn="l">
              <a:lnSpc>
                <a:spcPct val="90000"/>
              </a:lnSpc>
              <a:spcBef>
                <a:spcPts val="600"/>
              </a:spcBef>
              <a:spcAft>
                <a:spcPts val="0"/>
              </a:spcAft>
              <a:buNone/>
            </a:pPr>
            <a:r>
              <a:rPr b="1" i="0" lang="en-US" sz="2000" u="none" cap="none" strike="noStrike">
                <a:solidFill>
                  <a:srgbClr val="262626"/>
                </a:solidFill>
                <a:latin typeface="Gill Sans"/>
                <a:ea typeface="Gill Sans"/>
                <a:cs typeface="Gill Sans"/>
                <a:sym typeface="Gill Sans"/>
              </a:rPr>
              <a:t>Shaquilla Chambers</a:t>
            </a:r>
            <a:endParaRPr>
              <a:latin typeface="Gill Sans"/>
              <a:ea typeface="Gill Sans"/>
              <a:cs typeface="Gill Sans"/>
              <a:sym typeface="Gill Sans"/>
            </a:endParaRPr>
          </a:p>
          <a:p>
            <a:pPr indent="0" lvl="0" marL="0" marR="0" rtl="0" algn="l">
              <a:lnSpc>
                <a:spcPct val="90000"/>
              </a:lnSpc>
              <a:spcBef>
                <a:spcPts val="600"/>
              </a:spcBef>
              <a:spcAft>
                <a:spcPts val="0"/>
              </a:spcAft>
              <a:buNone/>
            </a:pPr>
            <a:r>
              <a:rPr b="1" i="0" lang="en-US" sz="2000" u="none" cap="none" strike="noStrike">
                <a:solidFill>
                  <a:srgbClr val="000000"/>
                </a:solidFill>
                <a:latin typeface="Gill Sans"/>
                <a:ea typeface="Gill Sans"/>
                <a:cs typeface="Gill Sans"/>
                <a:sym typeface="Gill Sans"/>
              </a:rPr>
              <a:t>Zach Zerger</a:t>
            </a:r>
            <a:endParaRPr b="1" i="0" sz="2400" u="none" cap="none" strike="noStrike">
              <a:solidFill>
                <a:srgbClr val="262626"/>
              </a:solidFill>
              <a:latin typeface="Gill Sans"/>
              <a:ea typeface="Gill Sans"/>
              <a:cs typeface="Gill Sans"/>
              <a:sym typeface="Gill Sans"/>
            </a:endParaRPr>
          </a:p>
        </p:txBody>
      </p:sp>
      <p:sp>
        <p:nvSpPr>
          <p:cNvPr id="104" name="Google Shape;104;p1"/>
          <p:cNvSpPr txBox="1"/>
          <p:nvPr/>
        </p:nvSpPr>
        <p:spPr>
          <a:xfrm>
            <a:off x="778042" y="1828800"/>
            <a:ext cx="2406316" cy="7232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a:p>
            <a:pPr indent="0" lvl="0" marL="0" marR="0" rtl="0" algn="l">
              <a:spcBef>
                <a:spcPts val="60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105" name="Google Shape;105;p1"/>
          <p:cNvSpPr txBox="1"/>
          <p:nvPr/>
        </p:nvSpPr>
        <p:spPr>
          <a:xfrm>
            <a:off x="9933708" y="5267485"/>
            <a:ext cx="2147400" cy="158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u="none" cap="none" strike="noStrike">
                <a:solidFill>
                  <a:schemeClr val="dk1"/>
                </a:solidFill>
                <a:latin typeface="Gill Sans"/>
                <a:ea typeface="Gill Sans"/>
                <a:cs typeface="Gill Sans"/>
                <a:sym typeface="Gill Sans"/>
              </a:rPr>
              <a:t>Dr. Branden Williams</a:t>
            </a:r>
            <a:endParaRPr>
              <a:latin typeface="Gill Sans"/>
              <a:ea typeface="Gill Sans"/>
              <a:cs typeface="Gill Sans"/>
              <a:sym typeface="Gill Sans"/>
            </a:endParaRPr>
          </a:p>
          <a:p>
            <a:pPr indent="0" lvl="0" marL="0" marR="0" rtl="0" algn="l">
              <a:spcBef>
                <a:spcPts val="600"/>
              </a:spcBef>
              <a:spcAft>
                <a:spcPts val="0"/>
              </a:spcAft>
              <a:buNone/>
            </a:pPr>
            <a:r>
              <a:rPr i="0" lang="en-US" sz="1600" u="none" cap="none" strike="noStrike">
                <a:solidFill>
                  <a:srgbClr val="000000"/>
                </a:solidFill>
                <a:latin typeface="Gill Sans"/>
                <a:ea typeface="Gill Sans"/>
                <a:cs typeface="Gill Sans"/>
                <a:sym typeface="Gill Sans"/>
              </a:rPr>
              <a:t>Strategic Cybersecurity Practicum CYBS - 8396 </a:t>
            </a:r>
            <a:endParaRPr>
              <a:latin typeface="Gill Sans"/>
              <a:ea typeface="Gill Sans"/>
              <a:cs typeface="Gill Sans"/>
              <a:sym typeface="Gill Sans"/>
            </a:endParaRPr>
          </a:p>
          <a:p>
            <a:pPr indent="0" lvl="0" marL="0" marR="0" rtl="0" algn="l">
              <a:spcBef>
                <a:spcPts val="600"/>
              </a:spcBef>
              <a:spcAft>
                <a:spcPts val="0"/>
              </a:spcAft>
              <a:buNone/>
            </a:pPr>
            <a:r>
              <a:rPr i="0" lang="en-US" sz="1600" u="none" cap="none" strike="noStrike">
                <a:solidFill>
                  <a:schemeClr val="dk1"/>
                </a:solidFill>
                <a:latin typeface="Gill Sans"/>
                <a:ea typeface="Gill Sans"/>
                <a:cs typeface="Gill Sans"/>
                <a:sym typeface="Gill Sans"/>
              </a:rPr>
              <a:t>Summer 2023</a:t>
            </a:r>
            <a:endParaRPr>
              <a:latin typeface="Gill Sans"/>
              <a:ea typeface="Gill Sans"/>
              <a:cs typeface="Gill Sans"/>
              <a:sym typeface="Gill Sans"/>
            </a:endParaRPr>
          </a:p>
          <a:p>
            <a:pPr indent="0" lvl="0" marL="0" marR="0" rtl="0" algn="l">
              <a:spcBef>
                <a:spcPts val="600"/>
              </a:spcBef>
              <a:spcAft>
                <a:spcPts val="0"/>
              </a:spcAft>
              <a:buNone/>
            </a:pPr>
            <a:r>
              <a:t/>
            </a:r>
            <a:endParaRPr b="0" i="0" sz="1800" u="none" cap="none" strike="noStrike">
              <a:solidFill>
                <a:schemeClr val="dk1"/>
              </a:solidFill>
              <a:latin typeface="Gill Sans"/>
              <a:ea typeface="Gill Sans"/>
              <a:cs typeface="Gill Sans"/>
              <a:sym typeface="Gill Sans"/>
            </a:endParaRPr>
          </a:p>
        </p:txBody>
      </p:sp>
      <p:pic>
        <p:nvPicPr>
          <p:cNvPr descr="Growth &amp; Development | Marriott News Center" id="106" name="Google Shape;106;p1"/>
          <p:cNvPicPr preferRelativeResize="0"/>
          <p:nvPr/>
        </p:nvPicPr>
        <p:blipFill rotWithShape="1">
          <a:blip r:embed="rId3">
            <a:alphaModFix/>
          </a:blip>
          <a:srcRect b="0" l="0" r="0" t="0"/>
          <a:stretch/>
        </p:blipFill>
        <p:spPr>
          <a:xfrm>
            <a:off x="4027054" y="1972354"/>
            <a:ext cx="4137891" cy="223058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title"/>
          </p:nvPr>
        </p:nvSpPr>
        <p:spPr>
          <a:xfrm>
            <a:off x="4031671" y="646738"/>
            <a:ext cx="4128655"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800"/>
              <a:buFont typeface="Gill Sans"/>
              <a:buNone/>
            </a:pPr>
            <a:r>
              <a:rPr b="1" lang="en-US" sz="4800"/>
              <a:t>AGENDA</a:t>
            </a:r>
            <a:endParaRPr b="1"/>
          </a:p>
        </p:txBody>
      </p:sp>
      <p:sp>
        <p:nvSpPr>
          <p:cNvPr id="112" name="Google Shape;112;p2"/>
          <p:cNvSpPr txBox="1"/>
          <p:nvPr>
            <p:ph idx="1" type="body"/>
          </p:nvPr>
        </p:nvSpPr>
        <p:spPr>
          <a:xfrm>
            <a:off x="581192" y="2180496"/>
            <a:ext cx="11029615" cy="3678303"/>
          </a:xfrm>
          <a:prstGeom prst="rect">
            <a:avLst/>
          </a:prstGeom>
          <a:noFill/>
          <a:ln>
            <a:noFill/>
          </a:ln>
        </p:spPr>
        <p:txBody>
          <a:bodyPr anchorCtr="0" anchor="t" bIns="45700" lIns="91425" spcFirstLastPara="1" rIns="91425" wrap="square" tIns="45700">
            <a:normAutofit/>
          </a:bodyPr>
          <a:lstStyle/>
          <a:p>
            <a:pPr indent="-416306" lvl="0" marL="457200" rtl="0" algn="l">
              <a:spcBef>
                <a:spcPts val="0"/>
              </a:spcBef>
              <a:spcAft>
                <a:spcPts val="0"/>
              </a:spcAft>
              <a:buSzPts val="2956"/>
              <a:buAutoNum type="arabicPeriod"/>
            </a:pPr>
            <a:r>
              <a:rPr lang="en-US" sz="3100"/>
              <a:t>Marriott’s Mission, Vision, and Core Values</a:t>
            </a:r>
            <a:endParaRPr sz="3100"/>
          </a:p>
          <a:p>
            <a:pPr indent="-425450" lvl="0" marL="457200" rtl="0" algn="l">
              <a:spcBef>
                <a:spcPts val="0"/>
              </a:spcBef>
              <a:spcAft>
                <a:spcPts val="0"/>
              </a:spcAft>
              <a:buSzPts val="3100"/>
              <a:buAutoNum type="arabicPeriod"/>
            </a:pPr>
            <a:r>
              <a:rPr lang="en-US" sz="3100"/>
              <a:t>Our Information Technology Philosophy</a:t>
            </a:r>
            <a:endParaRPr sz="3100"/>
          </a:p>
          <a:p>
            <a:pPr indent="-425450" lvl="0" marL="457200" rtl="0" algn="l">
              <a:spcBef>
                <a:spcPts val="0"/>
              </a:spcBef>
              <a:spcAft>
                <a:spcPts val="0"/>
              </a:spcAft>
              <a:buSzPts val="3100"/>
              <a:buAutoNum type="arabicPeriod"/>
            </a:pPr>
            <a:r>
              <a:rPr lang="en-US" sz="3100"/>
              <a:t>Security Organization Structure and Justification</a:t>
            </a:r>
            <a:endParaRPr sz="3100"/>
          </a:p>
          <a:p>
            <a:pPr indent="-425450" lvl="0" marL="457200" rtl="0" algn="l">
              <a:spcBef>
                <a:spcPts val="0"/>
              </a:spcBef>
              <a:spcAft>
                <a:spcPts val="0"/>
              </a:spcAft>
              <a:buSzPts val="3100"/>
              <a:buAutoNum type="arabicPeriod"/>
            </a:pPr>
            <a:r>
              <a:rPr lang="en-US" sz="3100"/>
              <a:t>Marriott’s Security Mission, Vision, and Core Values</a:t>
            </a:r>
            <a:endParaRPr sz="3100"/>
          </a:p>
          <a:p>
            <a:pPr indent="-425450" lvl="0" marL="457200" rtl="0" algn="l">
              <a:spcBef>
                <a:spcPts val="0"/>
              </a:spcBef>
              <a:spcAft>
                <a:spcPts val="0"/>
              </a:spcAft>
              <a:buSzPts val="3100"/>
              <a:buAutoNum type="arabicPeriod"/>
            </a:pPr>
            <a:r>
              <a:rPr lang="en-US" sz="3100"/>
              <a:t>Security Challenges Presented to Marriott International</a:t>
            </a:r>
            <a:endParaRPr sz="3100"/>
          </a:p>
          <a:p>
            <a:pPr indent="-425450" lvl="0" marL="457200" rtl="0" algn="l">
              <a:spcBef>
                <a:spcPts val="0"/>
              </a:spcBef>
              <a:spcAft>
                <a:spcPts val="0"/>
              </a:spcAft>
              <a:buSzPts val="3100"/>
              <a:buAutoNum type="arabicPeriod"/>
            </a:pPr>
            <a:r>
              <a:rPr lang="en-US" sz="3100"/>
              <a:t>Alignment between Business and Security Operations</a:t>
            </a:r>
            <a:endParaRPr sz="3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581190" y="686217"/>
            <a:ext cx="11029500" cy="10137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5400"/>
              <a:buFont typeface="Gill Sans"/>
              <a:buNone/>
            </a:pPr>
            <a:r>
              <a:rPr b="1" lang="en-US" sz="5400"/>
              <a:t>OUR MISSION &amp; VISION</a:t>
            </a:r>
            <a:endParaRPr/>
          </a:p>
        </p:txBody>
      </p:sp>
      <p:sp>
        <p:nvSpPr>
          <p:cNvPr id="118" name="Google Shape;118;p3"/>
          <p:cNvSpPr txBox="1"/>
          <p:nvPr>
            <p:ph idx="1" type="body"/>
          </p:nvPr>
        </p:nvSpPr>
        <p:spPr>
          <a:xfrm>
            <a:off x="581192" y="2180496"/>
            <a:ext cx="11029615" cy="3678303"/>
          </a:xfrm>
          <a:prstGeom prst="rect">
            <a:avLst/>
          </a:prstGeom>
          <a:noFill/>
          <a:ln>
            <a:noFill/>
          </a:ln>
        </p:spPr>
        <p:txBody>
          <a:bodyPr anchorCtr="0" anchor="t" bIns="45700" lIns="91425" spcFirstLastPara="1" rIns="91425" wrap="square" tIns="45700">
            <a:normAutofit/>
          </a:bodyPr>
          <a:lstStyle/>
          <a:p>
            <a:pPr indent="-393700" lvl="0" marL="457200" rtl="0" algn="l">
              <a:spcBef>
                <a:spcPts val="0"/>
              </a:spcBef>
              <a:spcAft>
                <a:spcPts val="0"/>
              </a:spcAft>
              <a:buSzPts val="2600"/>
              <a:buChar char="◼"/>
            </a:pPr>
            <a:r>
              <a:rPr b="1" lang="en-US" sz="2600"/>
              <a:t>Marriott International Mission Statement</a:t>
            </a:r>
            <a:endParaRPr b="1" sz="2600"/>
          </a:p>
          <a:p>
            <a:pPr indent="-393700" lvl="1" marL="914400" rtl="0" algn="l">
              <a:spcBef>
                <a:spcPts val="0"/>
              </a:spcBef>
              <a:spcAft>
                <a:spcPts val="0"/>
              </a:spcAft>
              <a:buSzPts val="2600"/>
              <a:buChar char="◼"/>
            </a:pPr>
            <a:r>
              <a:rPr lang="en-US" sz="2600"/>
              <a:t>Creating an environment for customers that is both memorable and pleasant for any occasion.</a:t>
            </a:r>
            <a:endParaRPr sz="2600"/>
          </a:p>
          <a:p>
            <a:pPr indent="0" lvl="0" marL="0" rtl="0" algn="l">
              <a:spcBef>
                <a:spcPts val="0"/>
              </a:spcBef>
              <a:spcAft>
                <a:spcPts val="0"/>
              </a:spcAft>
              <a:buNone/>
            </a:pPr>
            <a:r>
              <a:t/>
            </a:r>
            <a:endParaRPr sz="2600"/>
          </a:p>
          <a:p>
            <a:pPr indent="-393700" lvl="0" marL="457200" rtl="0" algn="l">
              <a:spcBef>
                <a:spcPts val="0"/>
              </a:spcBef>
              <a:spcAft>
                <a:spcPts val="0"/>
              </a:spcAft>
              <a:buSzPts val="2600"/>
              <a:buChar char="◼"/>
            </a:pPr>
            <a:r>
              <a:rPr b="1" lang="en-US" sz="2600"/>
              <a:t>Marriott</a:t>
            </a:r>
            <a:r>
              <a:rPr b="1" lang="en-US" sz="2600"/>
              <a:t> International Vision Statement</a:t>
            </a:r>
            <a:endParaRPr b="1" sz="2600"/>
          </a:p>
          <a:p>
            <a:pPr indent="-393700" lvl="1" marL="914400" rtl="0" algn="l">
              <a:spcBef>
                <a:spcPts val="0"/>
              </a:spcBef>
              <a:spcAft>
                <a:spcPts val="0"/>
              </a:spcAft>
              <a:buSzPts val="2600"/>
              <a:buChar char="◼"/>
            </a:pPr>
            <a:r>
              <a:rPr lang="en-US" sz="2600"/>
              <a:t>To be the best and number one travel company in the world.</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299628424a_0_0"/>
          <p:cNvSpPr txBox="1"/>
          <p:nvPr>
            <p:ph type="title"/>
          </p:nvPr>
        </p:nvSpPr>
        <p:spPr>
          <a:xfrm>
            <a:off x="581203" y="711867"/>
            <a:ext cx="11029500" cy="10137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5400"/>
              <a:buFont typeface="Gill Sans"/>
              <a:buNone/>
            </a:pPr>
            <a:r>
              <a:rPr b="1" lang="en-US" sz="5400"/>
              <a:t>OUR CORE VALUES</a:t>
            </a:r>
            <a:endParaRPr/>
          </a:p>
        </p:txBody>
      </p:sp>
      <p:sp>
        <p:nvSpPr>
          <p:cNvPr id="124" name="Google Shape;124;g2299628424a_0_0"/>
          <p:cNvSpPr txBox="1"/>
          <p:nvPr>
            <p:ph idx="1" type="body"/>
          </p:nvPr>
        </p:nvSpPr>
        <p:spPr>
          <a:xfrm>
            <a:off x="581200" y="2180500"/>
            <a:ext cx="4870500" cy="3678300"/>
          </a:xfrm>
          <a:prstGeom prst="rect">
            <a:avLst/>
          </a:prstGeom>
          <a:noFill/>
          <a:ln>
            <a:noFill/>
          </a:ln>
        </p:spPr>
        <p:txBody>
          <a:bodyPr anchorCtr="0" anchor="t" bIns="45700" lIns="91425" spcFirstLastPara="1" rIns="91425" wrap="square" tIns="45700">
            <a:normAutofit/>
          </a:bodyPr>
          <a:lstStyle/>
          <a:p>
            <a:pPr indent="-438150" lvl="0" marL="457200" rtl="0" algn="l">
              <a:spcBef>
                <a:spcPts val="0"/>
              </a:spcBef>
              <a:spcAft>
                <a:spcPts val="0"/>
              </a:spcAft>
              <a:buSzPts val="3300"/>
              <a:buChar char="◼"/>
            </a:pPr>
            <a:r>
              <a:rPr lang="en-US" sz="3300"/>
              <a:t>Prioritizing People</a:t>
            </a:r>
            <a:endParaRPr sz="3300"/>
          </a:p>
          <a:p>
            <a:pPr indent="-349250" lvl="1" marL="914400" rtl="0" algn="l">
              <a:spcBef>
                <a:spcPts val="0"/>
              </a:spcBef>
              <a:spcAft>
                <a:spcPts val="0"/>
              </a:spcAft>
              <a:buSzPts val="1900"/>
              <a:buChar char="◼"/>
            </a:pPr>
            <a:r>
              <a:rPr lang="en-US" sz="1900"/>
              <a:t>Place emphasis on the experiences of both employees and customers</a:t>
            </a:r>
            <a:endParaRPr sz="1900"/>
          </a:p>
          <a:p>
            <a:pPr indent="0" lvl="0" marL="914400" rtl="0" algn="l">
              <a:spcBef>
                <a:spcPts val="0"/>
              </a:spcBef>
              <a:spcAft>
                <a:spcPts val="0"/>
              </a:spcAft>
              <a:buNone/>
            </a:pPr>
            <a:r>
              <a:t/>
            </a:r>
            <a:endParaRPr sz="1900"/>
          </a:p>
          <a:p>
            <a:pPr indent="0" lvl="0" marL="914400" rtl="0" algn="l">
              <a:spcBef>
                <a:spcPts val="0"/>
              </a:spcBef>
              <a:spcAft>
                <a:spcPts val="0"/>
              </a:spcAft>
              <a:buNone/>
            </a:pPr>
            <a:r>
              <a:t/>
            </a:r>
            <a:endParaRPr sz="1900"/>
          </a:p>
          <a:p>
            <a:pPr indent="-438150" lvl="0" marL="457200" rtl="0" algn="l">
              <a:spcBef>
                <a:spcPts val="0"/>
              </a:spcBef>
              <a:spcAft>
                <a:spcPts val="0"/>
              </a:spcAft>
              <a:buSzPts val="3300"/>
              <a:buChar char="◼"/>
            </a:pPr>
            <a:r>
              <a:rPr lang="en-US" sz="3300"/>
              <a:t>Innovation in Hospitality</a:t>
            </a:r>
            <a:endParaRPr sz="3300"/>
          </a:p>
          <a:p>
            <a:pPr indent="-349250" lvl="1" marL="914400" rtl="0" algn="l">
              <a:spcBef>
                <a:spcPts val="0"/>
              </a:spcBef>
              <a:spcAft>
                <a:spcPts val="0"/>
              </a:spcAft>
              <a:buSzPts val="1900"/>
              <a:buChar char="◼"/>
            </a:pPr>
            <a:r>
              <a:rPr lang="en-US" sz="1900"/>
              <a:t>Improving the satisfaction of customers.</a:t>
            </a:r>
            <a:endParaRPr sz="1900"/>
          </a:p>
        </p:txBody>
      </p:sp>
      <p:sp>
        <p:nvSpPr>
          <p:cNvPr id="125" name="Google Shape;125;g2299628424a_0_0"/>
          <p:cNvSpPr txBox="1"/>
          <p:nvPr>
            <p:ph idx="1" type="body"/>
          </p:nvPr>
        </p:nvSpPr>
        <p:spPr>
          <a:xfrm>
            <a:off x="6598675" y="2180500"/>
            <a:ext cx="4870500" cy="3678300"/>
          </a:xfrm>
          <a:prstGeom prst="rect">
            <a:avLst/>
          </a:prstGeom>
          <a:noFill/>
          <a:ln>
            <a:noFill/>
          </a:ln>
        </p:spPr>
        <p:txBody>
          <a:bodyPr anchorCtr="0" anchor="t" bIns="45700" lIns="91425" spcFirstLastPara="1" rIns="91425" wrap="square" tIns="45700">
            <a:normAutofit/>
          </a:bodyPr>
          <a:lstStyle/>
          <a:p>
            <a:pPr indent="-438150" lvl="0" marL="457200" rtl="0" algn="l">
              <a:spcBef>
                <a:spcPts val="0"/>
              </a:spcBef>
              <a:spcAft>
                <a:spcPts val="0"/>
              </a:spcAft>
              <a:buSzPts val="3300"/>
              <a:buChar char="◼"/>
            </a:pPr>
            <a:r>
              <a:rPr lang="en-US" sz="3300"/>
              <a:t>Pursuing Excellence</a:t>
            </a:r>
            <a:endParaRPr sz="3300"/>
          </a:p>
          <a:p>
            <a:pPr indent="-349250" lvl="1" marL="914400" rtl="0" algn="l">
              <a:spcBef>
                <a:spcPts val="0"/>
              </a:spcBef>
              <a:spcAft>
                <a:spcPts val="0"/>
              </a:spcAft>
              <a:buSzPts val="1900"/>
              <a:buChar char="◼"/>
            </a:pPr>
            <a:r>
              <a:rPr lang="en-US" sz="1900"/>
              <a:t>Be the best in all fields that Marriott International.</a:t>
            </a:r>
            <a:endParaRPr sz="1900"/>
          </a:p>
          <a:p>
            <a:pPr indent="0" lvl="0" marL="914400" rtl="0" algn="l">
              <a:spcBef>
                <a:spcPts val="0"/>
              </a:spcBef>
              <a:spcAft>
                <a:spcPts val="0"/>
              </a:spcAft>
              <a:buNone/>
            </a:pPr>
            <a:r>
              <a:t/>
            </a:r>
            <a:endParaRPr sz="1900"/>
          </a:p>
          <a:p>
            <a:pPr indent="0" lvl="0" marL="914400" rtl="0" algn="l">
              <a:spcBef>
                <a:spcPts val="0"/>
              </a:spcBef>
              <a:spcAft>
                <a:spcPts val="0"/>
              </a:spcAft>
              <a:buNone/>
            </a:pPr>
            <a:r>
              <a:t/>
            </a:r>
            <a:endParaRPr sz="1900"/>
          </a:p>
          <a:p>
            <a:pPr indent="-438150" lvl="0" marL="457200" rtl="0" algn="l">
              <a:spcBef>
                <a:spcPts val="0"/>
              </a:spcBef>
              <a:spcAft>
                <a:spcPts val="0"/>
              </a:spcAft>
              <a:buSzPts val="3300"/>
              <a:buChar char="◼"/>
            </a:pPr>
            <a:r>
              <a:rPr lang="en-US" sz="3300"/>
              <a:t>Uncompromising Standards</a:t>
            </a:r>
            <a:endParaRPr sz="3300"/>
          </a:p>
          <a:p>
            <a:pPr indent="-349250" lvl="1" marL="914400" rtl="0" algn="l">
              <a:spcBef>
                <a:spcPts val="0"/>
              </a:spcBef>
              <a:spcAft>
                <a:spcPts val="0"/>
              </a:spcAft>
              <a:buSzPts val="1900"/>
              <a:buChar char="◼"/>
            </a:pPr>
            <a:r>
              <a:rPr lang="en-US" sz="1900"/>
              <a:t>Go above and beyond the standards of ethics and legal requirements.</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581247" y="569201"/>
            <a:ext cx="11029500" cy="10137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lt1"/>
              </a:buClr>
              <a:buSzPct val="100000"/>
              <a:buFont typeface="Gill Sans"/>
              <a:buNone/>
            </a:pPr>
            <a:r>
              <a:rPr b="1" lang="en-US" sz="4000"/>
              <a:t>INFORMATION TECHNOLOGY PHILOSOPHY</a:t>
            </a:r>
            <a:endParaRPr/>
          </a:p>
        </p:txBody>
      </p:sp>
      <p:sp>
        <p:nvSpPr>
          <p:cNvPr id="131" name="Google Shape;131;p4"/>
          <p:cNvSpPr txBox="1"/>
          <p:nvPr>
            <p:ph idx="1" type="body"/>
          </p:nvPr>
        </p:nvSpPr>
        <p:spPr>
          <a:xfrm>
            <a:off x="581192" y="2180496"/>
            <a:ext cx="11029615" cy="3678303"/>
          </a:xfrm>
          <a:prstGeom prst="rect">
            <a:avLst/>
          </a:prstGeom>
          <a:noFill/>
          <a:ln>
            <a:noFill/>
          </a:ln>
        </p:spPr>
        <p:txBody>
          <a:bodyPr anchorCtr="0" anchor="t" bIns="45700" lIns="91425" spcFirstLastPara="1" rIns="91425" wrap="square" tIns="45700">
            <a:normAutofit/>
          </a:bodyPr>
          <a:lstStyle/>
          <a:p>
            <a:pPr indent="-393700" lvl="0" marL="457200" rtl="0" algn="l">
              <a:spcBef>
                <a:spcPts val="0"/>
              </a:spcBef>
              <a:spcAft>
                <a:spcPts val="0"/>
              </a:spcAft>
              <a:buSzPts val="2600"/>
              <a:buChar char="◼"/>
            </a:pPr>
            <a:r>
              <a:rPr lang="en-US" sz="2600"/>
              <a:t>This philosophy will r</a:t>
            </a:r>
            <a:r>
              <a:rPr lang="en-US" sz="2600"/>
              <a:t>eorient</a:t>
            </a:r>
            <a:r>
              <a:rPr lang="en-US" sz="2600"/>
              <a:t> </a:t>
            </a:r>
            <a:r>
              <a:rPr lang="en-US" sz="2600"/>
              <a:t>Marriott</a:t>
            </a:r>
            <a:r>
              <a:rPr lang="en-US" sz="2600"/>
              <a:t> International’s technology usage:</a:t>
            </a:r>
            <a:endParaRPr sz="2600"/>
          </a:p>
          <a:p>
            <a:pPr indent="-393700" lvl="1" marL="914400" rtl="0" algn="l">
              <a:spcBef>
                <a:spcPts val="0"/>
              </a:spcBef>
              <a:spcAft>
                <a:spcPts val="0"/>
              </a:spcAft>
              <a:buSzPts val="2600"/>
              <a:buChar char="◼"/>
            </a:pPr>
            <a:r>
              <a:rPr lang="en-US" sz="2600"/>
              <a:t>Purpose and direction of this philosophy for Marriott International</a:t>
            </a:r>
            <a:endParaRPr sz="2600"/>
          </a:p>
          <a:p>
            <a:pPr indent="-393700" lvl="1" marL="914400" rtl="0" algn="l">
              <a:spcBef>
                <a:spcPts val="0"/>
              </a:spcBef>
              <a:spcAft>
                <a:spcPts val="0"/>
              </a:spcAft>
              <a:buSzPts val="2600"/>
              <a:buChar char="◼"/>
            </a:pPr>
            <a:r>
              <a:rPr lang="en-US" sz="2600"/>
              <a:t>Hardware and software requirements</a:t>
            </a:r>
            <a:endParaRPr sz="2600"/>
          </a:p>
          <a:p>
            <a:pPr indent="-393700" lvl="1" marL="914400" rtl="0" algn="l">
              <a:spcBef>
                <a:spcPts val="0"/>
              </a:spcBef>
              <a:spcAft>
                <a:spcPts val="0"/>
              </a:spcAft>
              <a:buSzPts val="2600"/>
              <a:buChar char="◼"/>
            </a:pPr>
            <a:r>
              <a:rPr lang="en-US" sz="2600"/>
              <a:t>Technology team orientations for Marriott International</a:t>
            </a:r>
            <a:endParaRPr sz="2600"/>
          </a:p>
          <a:p>
            <a:pPr indent="-393700" lvl="1" marL="914400" rtl="0" algn="l">
              <a:spcBef>
                <a:spcPts val="0"/>
              </a:spcBef>
              <a:spcAft>
                <a:spcPts val="0"/>
              </a:spcAft>
              <a:buSzPts val="2600"/>
              <a:buChar char="◼"/>
            </a:pPr>
            <a:r>
              <a:rPr lang="en-US" sz="2600"/>
              <a:t>Policy assessment for employees</a:t>
            </a:r>
            <a:endParaRPr sz="2600"/>
          </a:p>
          <a:p>
            <a:pPr indent="-393700" lvl="1" marL="914400" rtl="0" algn="l">
              <a:spcBef>
                <a:spcPts val="0"/>
              </a:spcBef>
              <a:spcAft>
                <a:spcPts val="0"/>
              </a:spcAft>
              <a:buSzPts val="2600"/>
              <a:buChar char="◼"/>
            </a:pPr>
            <a:r>
              <a:rPr lang="en-US" sz="2600"/>
              <a:t>What will be required of our employees to support this new IT philosophy</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935260" y="551265"/>
            <a:ext cx="10321500" cy="11010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000"/>
              <a:buFont typeface="Gill Sans"/>
              <a:buNone/>
            </a:pPr>
            <a:r>
              <a:rPr b="1" lang="en-US" sz="4000"/>
              <a:t>SECURITY ORGANIZATION CHART</a:t>
            </a:r>
            <a:endParaRPr/>
          </a:p>
        </p:txBody>
      </p:sp>
      <p:pic>
        <p:nvPicPr>
          <p:cNvPr id="137" name="Google Shape;137;p5"/>
          <p:cNvPicPr preferRelativeResize="0"/>
          <p:nvPr/>
        </p:nvPicPr>
        <p:blipFill>
          <a:blip r:embed="rId3">
            <a:alphaModFix/>
          </a:blip>
          <a:stretch>
            <a:fillRect/>
          </a:stretch>
        </p:blipFill>
        <p:spPr>
          <a:xfrm>
            <a:off x="506688" y="1804650"/>
            <a:ext cx="10923023" cy="4357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581191" y="777527"/>
            <a:ext cx="11029616" cy="716755"/>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lt1"/>
              </a:buClr>
              <a:buSzPct val="100000"/>
              <a:buFont typeface="Gill Sans"/>
              <a:buNone/>
            </a:pPr>
            <a:r>
              <a:rPr b="1" lang="en-US" sz="4000"/>
              <a:t>SECURITY ORGANIZATION JUSTIFICATION</a:t>
            </a:r>
            <a:endParaRPr/>
          </a:p>
        </p:txBody>
      </p:sp>
      <p:sp>
        <p:nvSpPr>
          <p:cNvPr id="143" name="Google Shape;143;p6"/>
          <p:cNvSpPr txBox="1"/>
          <p:nvPr>
            <p:ph idx="1" type="body"/>
          </p:nvPr>
        </p:nvSpPr>
        <p:spPr>
          <a:xfrm>
            <a:off x="506742" y="2053646"/>
            <a:ext cx="11029500" cy="3678300"/>
          </a:xfrm>
          <a:prstGeom prst="rect">
            <a:avLst/>
          </a:prstGeom>
          <a:noFill/>
          <a:ln>
            <a:noFill/>
          </a:ln>
        </p:spPr>
        <p:txBody>
          <a:bodyPr anchorCtr="0" anchor="ctr" bIns="45700" lIns="91425" spcFirstLastPara="1" rIns="91425" wrap="square" tIns="45700">
            <a:noAutofit/>
          </a:bodyPr>
          <a:lstStyle/>
          <a:p>
            <a:pPr indent="-336550" lvl="0" marL="457200" rtl="0" algn="l">
              <a:lnSpc>
                <a:spcPct val="200000"/>
              </a:lnSpc>
              <a:spcBef>
                <a:spcPts val="0"/>
              </a:spcBef>
              <a:spcAft>
                <a:spcPts val="0"/>
              </a:spcAft>
              <a:buSzPts val="1700"/>
              <a:buChar char="◼"/>
            </a:pPr>
            <a:r>
              <a:rPr lang="en-US" sz="1700">
                <a:solidFill>
                  <a:schemeClr val="dk1"/>
                </a:solidFill>
              </a:rPr>
              <a:t>The demand for cybersecurity experts grows more and more important as </a:t>
            </a:r>
            <a:r>
              <a:rPr lang="en-US" sz="1700">
                <a:solidFill>
                  <a:srgbClr val="202122"/>
                </a:solidFill>
              </a:rPr>
              <a:t>the complexity and sophistication of attacks increase.</a:t>
            </a:r>
            <a:r>
              <a:rPr lang="en-US" sz="1700">
                <a:solidFill>
                  <a:schemeClr val="dk1"/>
                </a:solidFill>
              </a:rPr>
              <a:t> </a:t>
            </a:r>
            <a:endParaRPr sz="1700">
              <a:solidFill>
                <a:schemeClr val="dk1"/>
              </a:solidFill>
            </a:endParaRPr>
          </a:p>
          <a:p>
            <a:pPr indent="-336550" lvl="0" marL="457200" rtl="0" algn="l">
              <a:lnSpc>
                <a:spcPct val="200000"/>
              </a:lnSpc>
              <a:spcBef>
                <a:spcPts val="0"/>
              </a:spcBef>
              <a:spcAft>
                <a:spcPts val="0"/>
              </a:spcAft>
              <a:buSzPts val="1700"/>
              <a:buChar char="◼"/>
            </a:pPr>
            <a:r>
              <a:rPr lang="en-US" sz="1700">
                <a:solidFill>
                  <a:schemeClr val="dk1"/>
                </a:solidFill>
              </a:rPr>
              <a:t>To develop and improve our</a:t>
            </a:r>
            <a:r>
              <a:rPr lang="en-US" sz="1700">
                <a:solidFill>
                  <a:srgbClr val="202122"/>
                </a:solidFill>
              </a:rPr>
              <a:t> </a:t>
            </a:r>
            <a:r>
              <a:rPr lang="en-US" sz="1700">
                <a:solidFill>
                  <a:srgbClr val="202122"/>
                </a:solidFill>
              </a:rPr>
              <a:t>strong defense posture and build resilience against potential cyber threats.</a:t>
            </a:r>
            <a:endParaRPr sz="1700">
              <a:solidFill>
                <a:schemeClr val="dk1"/>
              </a:solidFill>
            </a:endParaRPr>
          </a:p>
          <a:p>
            <a:pPr indent="-336550" lvl="0" marL="457200" rtl="0" algn="l">
              <a:lnSpc>
                <a:spcPct val="200000"/>
              </a:lnSpc>
              <a:spcBef>
                <a:spcPts val="0"/>
              </a:spcBef>
              <a:spcAft>
                <a:spcPts val="0"/>
              </a:spcAft>
              <a:buSzPts val="1700"/>
              <a:buChar char="◼"/>
            </a:pPr>
            <a:r>
              <a:rPr lang="en-US" sz="1700">
                <a:solidFill>
                  <a:schemeClr val="dk1"/>
                </a:solidFill>
                <a:highlight>
                  <a:srgbClr val="FFFFFF"/>
                </a:highlight>
              </a:rPr>
              <a:t>To adherence to GDPR and US Data Protection laws to ensure Marriott’s is informed and compliant with current data protection </a:t>
            </a:r>
            <a:r>
              <a:rPr lang="en-US" sz="1700">
                <a:solidFill>
                  <a:schemeClr val="dk1"/>
                </a:solidFill>
                <a:highlight>
                  <a:srgbClr val="FFFFFF"/>
                </a:highlight>
              </a:rPr>
              <a:t>regulations and law</a:t>
            </a:r>
            <a:r>
              <a:rPr lang="en-US" sz="1700">
                <a:solidFill>
                  <a:schemeClr val="dk1"/>
                </a:solidFill>
                <a:highlight>
                  <a:srgbClr val="FFFFFF"/>
                </a:highlight>
              </a:rPr>
              <a:t>. </a:t>
            </a:r>
            <a:endParaRPr sz="1700">
              <a:solidFill>
                <a:srgbClr val="202122"/>
              </a:solidFill>
            </a:endParaRPr>
          </a:p>
          <a:p>
            <a:pPr indent="-336550" lvl="0" marL="457200" rtl="0" algn="l">
              <a:lnSpc>
                <a:spcPct val="200000"/>
              </a:lnSpc>
              <a:spcBef>
                <a:spcPts val="0"/>
              </a:spcBef>
              <a:spcAft>
                <a:spcPts val="0"/>
              </a:spcAft>
              <a:buSzPts val="1700"/>
              <a:buChar char="◼"/>
            </a:pPr>
            <a:r>
              <a:rPr lang="en-US" sz="1700">
                <a:solidFill>
                  <a:srgbClr val="202122"/>
                </a:solidFill>
              </a:rPr>
              <a:t> The team overall objectives is to help us maintain data privacy, safeguard sensitive information, and build trust with our customers.</a:t>
            </a:r>
            <a:endParaRPr sz="1700">
              <a:solidFill>
                <a:srgbClr val="202122"/>
              </a:solidFill>
            </a:endParaRPr>
          </a:p>
          <a:p>
            <a:pPr indent="0" lvl="0" marL="0" rtl="0" algn="l">
              <a:lnSpc>
                <a:spcPct val="200000"/>
              </a:lnSpc>
              <a:spcBef>
                <a:spcPts val="0"/>
              </a:spcBef>
              <a:spcAft>
                <a:spcPts val="0"/>
              </a:spcAft>
              <a:buClr>
                <a:schemeClr val="dk1"/>
              </a:buClr>
              <a:buSzPts val="1100"/>
              <a:buFont typeface="Arial"/>
              <a:buNone/>
            </a:pPr>
            <a:r>
              <a:t/>
            </a:r>
            <a:endParaRPr sz="1700">
              <a:solidFill>
                <a:srgbClr val="20212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830574" y="492301"/>
            <a:ext cx="11029616" cy="1013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Gill Sans"/>
              <a:buNone/>
            </a:pPr>
            <a:r>
              <a:rPr b="1" lang="en-US" sz="4000"/>
              <a:t>SECURITY MISSION &amp; VISION STATEMENTS</a:t>
            </a:r>
            <a:endParaRPr/>
          </a:p>
        </p:txBody>
      </p:sp>
      <p:sp>
        <p:nvSpPr>
          <p:cNvPr id="149" name="Google Shape;149;p7"/>
          <p:cNvSpPr txBox="1"/>
          <p:nvPr>
            <p:ph idx="1" type="body"/>
          </p:nvPr>
        </p:nvSpPr>
        <p:spPr>
          <a:xfrm>
            <a:off x="581192" y="2180496"/>
            <a:ext cx="11029615" cy="3678303"/>
          </a:xfrm>
          <a:prstGeom prst="rect">
            <a:avLst/>
          </a:prstGeom>
          <a:noFill/>
          <a:ln>
            <a:noFill/>
          </a:ln>
        </p:spPr>
        <p:txBody>
          <a:bodyPr anchorCtr="0" anchor="t" bIns="45700" lIns="91425" spcFirstLastPara="1" rIns="91425" wrap="square" tIns="45700">
            <a:normAutofit lnSpcReduction="10000"/>
          </a:bodyPr>
          <a:lstStyle/>
          <a:p>
            <a:pPr indent="0" lvl="0" marL="105156" rtl="0" algn="ctr">
              <a:spcBef>
                <a:spcPts val="0"/>
              </a:spcBef>
              <a:spcAft>
                <a:spcPts val="0"/>
              </a:spcAft>
              <a:buSzPts val="1656"/>
              <a:buNone/>
            </a:pPr>
            <a:r>
              <a:rPr b="1" lang="en-US" sz="2600"/>
              <a:t>Security </a:t>
            </a:r>
            <a:r>
              <a:rPr b="1" lang="en-US" sz="2600"/>
              <a:t>Mission</a:t>
            </a:r>
            <a:r>
              <a:rPr lang="en-US"/>
              <a:t> </a:t>
            </a:r>
            <a:endParaRPr/>
          </a:p>
          <a:p>
            <a:pPr indent="0" lvl="0" marL="105156" rtl="0" algn="ctr">
              <a:spcBef>
                <a:spcPts val="0"/>
              </a:spcBef>
              <a:spcAft>
                <a:spcPts val="0"/>
              </a:spcAft>
              <a:buSzPts val="1656"/>
              <a:buNone/>
            </a:pPr>
            <a:r>
              <a:t/>
            </a:r>
            <a:endParaRPr/>
          </a:p>
          <a:p>
            <a:pPr indent="0" lvl="0" marL="105156" rtl="0" algn="ctr">
              <a:spcBef>
                <a:spcPts val="0"/>
              </a:spcBef>
              <a:spcAft>
                <a:spcPts val="0"/>
              </a:spcAft>
              <a:buSzPts val="1656"/>
              <a:buNone/>
            </a:pPr>
            <a:r>
              <a:rPr lang="en-US" sz="2600"/>
              <a:t>Safeguard</a:t>
            </a:r>
            <a:r>
              <a:rPr lang="en-US" sz="2600"/>
              <a:t> </a:t>
            </a:r>
            <a:r>
              <a:rPr lang="en-US" sz="2600"/>
              <a:t>Information</a:t>
            </a:r>
            <a:r>
              <a:rPr lang="en-US" sz="2600"/>
              <a:t> Assets </a:t>
            </a:r>
            <a:endParaRPr sz="2600"/>
          </a:p>
          <a:p>
            <a:pPr indent="0" lvl="0" marL="105156" rtl="0" algn="ctr">
              <a:spcBef>
                <a:spcPts val="0"/>
              </a:spcBef>
              <a:spcAft>
                <a:spcPts val="0"/>
              </a:spcAft>
              <a:buSzPts val="1656"/>
              <a:buNone/>
            </a:pPr>
            <a:r>
              <a:rPr lang="en-US" sz="2600"/>
              <a:t>Ensure Confidentiality, Integrity, and Availability </a:t>
            </a:r>
            <a:endParaRPr sz="2600"/>
          </a:p>
          <a:p>
            <a:pPr indent="0" lvl="0" marL="105156" rtl="0" algn="ctr">
              <a:spcBef>
                <a:spcPts val="0"/>
              </a:spcBef>
              <a:spcAft>
                <a:spcPts val="0"/>
              </a:spcAft>
              <a:buSzPts val="1656"/>
              <a:buNone/>
            </a:pPr>
            <a:r>
              <a:t/>
            </a:r>
            <a:endParaRPr/>
          </a:p>
          <a:p>
            <a:pPr indent="0" lvl="0" marL="105156" rtl="0" algn="ctr">
              <a:spcBef>
                <a:spcPts val="0"/>
              </a:spcBef>
              <a:spcAft>
                <a:spcPts val="0"/>
              </a:spcAft>
              <a:buSzPts val="1656"/>
              <a:buNone/>
            </a:pPr>
            <a:r>
              <a:rPr b="1" lang="en-US" sz="2600"/>
              <a:t>Security Vision</a:t>
            </a:r>
            <a:endParaRPr b="1" sz="2600"/>
          </a:p>
          <a:p>
            <a:pPr indent="0" lvl="0" marL="105156" rtl="0" algn="ctr">
              <a:spcBef>
                <a:spcPts val="0"/>
              </a:spcBef>
              <a:spcAft>
                <a:spcPts val="0"/>
              </a:spcAft>
              <a:buSzPts val="1656"/>
              <a:buNone/>
            </a:pPr>
            <a:r>
              <a:t/>
            </a:r>
            <a:endParaRPr sz="2600"/>
          </a:p>
          <a:p>
            <a:pPr indent="0" lvl="0" marL="105156" rtl="0" algn="ctr">
              <a:spcBef>
                <a:spcPts val="0"/>
              </a:spcBef>
              <a:spcAft>
                <a:spcPts val="0"/>
              </a:spcAft>
              <a:buSzPts val="1656"/>
              <a:buNone/>
            </a:pPr>
            <a:r>
              <a:rPr lang="en-US" sz="2600"/>
              <a:t>Meet Stakeholder </a:t>
            </a:r>
            <a:r>
              <a:rPr lang="en-US" sz="2600"/>
              <a:t>Security</a:t>
            </a:r>
            <a:r>
              <a:rPr lang="en-US" sz="2600"/>
              <a:t> Expectations</a:t>
            </a:r>
            <a:endParaRPr sz="2600"/>
          </a:p>
          <a:p>
            <a:pPr indent="0" lvl="0" marL="105156" rtl="0" algn="ctr">
              <a:spcBef>
                <a:spcPts val="0"/>
              </a:spcBef>
              <a:spcAft>
                <a:spcPts val="0"/>
              </a:spcAft>
              <a:buSzPts val="1656"/>
              <a:buNone/>
            </a:pPr>
            <a:r>
              <a:rPr lang="en-US" sz="2600"/>
              <a:t>Security Innovation </a:t>
            </a:r>
            <a:endParaRPr sz="2600"/>
          </a:p>
          <a:p>
            <a:pPr indent="0" lvl="0" marL="105156" rtl="0" algn="ctr">
              <a:spcBef>
                <a:spcPts val="0"/>
              </a:spcBef>
              <a:spcAft>
                <a:spcPts val="0"/>
              </a:spcAft>
              <a:buSzPts val="1656"/>
              <a:buNone/>
            </a:pPr>
            <a:r>
              <a:rPr lang="en-US" sz="2600"/>
              <a:t>Security Culture </a:t>
            </a:r>
            <a:endParaRPr sz="2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2050125" y="660600"/>
            <a:ext cx="8793600" cy="10137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800"/>
              <a:buFont typeface="Gill Sans"/>
              <a:buNone/>
            </a:pPr>
            <a:r>
              <a:rPr b="1" lang="en-US" sz="4400"/>
              <a:t>SECURITY CORE  VALUES </a:t>
            </a:r>
            <a:endParaRPr sz="4400"/>
          </a:p>
        </p:txBody>
      </p:sp>
      <p:sp>
        <p:nvSpPr>
          <p:cNvPr id="155" name="Google Shape;155;p8"/>
          <p:cNvSpPr txBox="1"/>
          <p:nvPr>
            <p:ph idx="1" type="body"/>
          </p:nvPr>
        </p:nvSpPr>
        <p:spPr>
          <a:xfrm>
            <a:off x="581200" y="2180500"/>
            <a:ext cx="4456500" cy="3678300"/>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SzPts val="3200"/>
              <a:buChar char="◼"/>
            </a:pPr>
            <a:r>
              <a:rPr lang="en-US" sz="3200"/>
              <a:t>Confidentiality </a:t>
            </a:r>
            <a:endParaRPr sz="3200"/>
          </a:p>
          <a:p>
            <a:pPr indent="-342900" lvl="1" marL="914400" rtl="0" algn="l">
              <a:spcBef>
                <a:spcPts val="0"/>
              </a:spcBef>
              <a:spcAft>
                <a:spcPts val="0"/>
              </a:spcAft>
              <a:buSzPts val="1800"/>
              <a:buChar char="◼"/>
            </a:pPr>
            <a:r>
              <a:rPr lang="en-US" sz="1800"/>
              <a:t>Protect Proprietary Data  </a:t>
            </a:r>
            <a:endParaRPr sz="1800"/>
          </a:p>
          <a:p>
            <a:pPr indent="-342900" lvl="1" marL="914400" rtl="0" algn="l">
              <a:spcBef>
                <a:spcPts val="0"/>
              </a:spcBef>
              <a:spcAft>
                <a:spcPts val="0"/>
              </a:spcAft>
              <a:buSzPts val="1800"/>
              <a:buChar char="◼"/>
            </a:pPr>
            <a:r>
              <a:rPr lang="en-US" sz="1800"/>
              <a:t>Protect Customer Data  </a:t>
            </a:r>
            <a:endParaRPr sz="1800"/>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a:p>
            <a:pPr indent="-431800" lvl="0" marL="457200" rtl="0" algn="l">
              <a:spcBef>
                <a:spcPts val="0"/>
              </a:spcBef>
              <a:spcAft>
                <a:spcPts val="0"/>
              </a:spcAft>
              <a:buSzPts val="3200"/>
              <a:buChar char="◼"/>
            </a:pPr>
            <a:r>
              <a:rPr lang="en-US" sz="3200"/>
              <a:t>Integrity </a:t>
            </a:r>
            <a:endParaRPr sz="3200"/>
          </a:p>
          <a:p>
            <a:pPr indent="-342900" lvl="1" marL="914400" rtl="0" algn="l">
              <a:spcBef>
                <a:spcPts val="0"/>
              </a:spcBef>
              <a:spcAft>
                <a:spcPts val="0"/>
              </a:spcAft>
              <a:buSzPts val="1800"/>
              <a:buChar char="◼"/>
            </a:pPr>
            <a:r>
              <a:rPr lang="en-US" sz="1800"/>
              <a:t>Accurate and Reliable Data </a:t>
            </a:r>
            <a:endParaRPr sz="1800"/>
          </a:p>
          <a:p>
            <a:pPr indent="-342900" lvl="1" marL="914400" rtl="0" algn="l">
              <a:spcBef>
                <a:spcPts val="0"/>
              </a:spcBef>
              <a:spcAft>
                <a:spcPts val="0"/>
              </a:spcAft>
              <a:buSzPts val="1800"/>
              <a:buChar char="◼"/>
            </a:pPr>
            <a:r>
              <a:rPr lang="en-US" sz="1800"/>
              <a:t>Prevent Unauthorized Changes </a:t>
            </a:r>
            <a:endParaRPr sz="1800"/>
          </a:p>
        </p:txBody>
      </p:sp>
      <p:sp>
        <p:nvSpPr>
          <p:cNvPr id="156" name="Google Shape;156;p8"/>
          <p:cNvSpPr txBox="1"/>
          <p:nvPr>
            <p:ph idx="1" type="body"/>
          </p:nvPr>
        </p:nvSpPr>
        <p:spPr>
          <a:xfrm>
            <a:off x="6792200" y="2180500"/>
            <a:ext cx="4456500" cy="3678300"/>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SzPts val="3200"/>
              <a:buChar char="◼"/>
            </a:pPr>
            <a:r>
              <a:rPr lang="en-US" sz="3200"/>
              <a:t>Availability </a:t>
            </a:r>
            <a:endParaRPr sz="3200"/>
          </a:p>
          <a:p>
            <a:pPr indent="-342900" lvl="1" marL="914400" rtl="0" algn="l">
              <a:spcBef>
                <a:spcPts val="0"/>
              </a:spcBef>
              <a:spcAft>
                <a:spcPts val="0"/>
              </a:spcAft>
              <a:buSzPts val="1800"/>
              <a:buChar char="◼"/>
            </a:pPr>
            <a:r>
              <a:rPr lang="en-US" sz="1800"/>
              <a:t>Redundant Systems </a:t>
            </a:r>
            <a:r>
              <a:rPr lang="en-US" sz="1800"/>
              <a:t>  </a:t>
            </a:r>
            <a:endParaRPr sz="1800"/>
          </a:p>
          <a:p>
            <a:pPr indent="-342900" lvl="1" marL="914400" rtl="0" algn="l">
              <a:spcBef>
                <a:spcPts val="0"/>
              </a:spcBef>
              <a:spcAft>
                <a:spcPts val="0"/>
              </a:spcAft>
              <a:buSzPts val="1800"/>
              <a:buChar char="◼"/>
            </a:pPr>
            <a:r>
              <a:rPr lang="en-US" sz="1800"/>
              <a:t>Backup Systems   </a:t>
            </a:r>
            <a:endParaRPr sz="1800"/>
          </a:p>
          <a:p>
            <a:pPr indent="0" lvl="0" marL="914400" rtl="0" algn="l">
              <a:spcBef>
                <a:spcPts val="0"/>
              </a:spcBef>
              <a:spcAft>
                <a:spcPts val="0"/>
              </a:spcAft>
              <a:buNone/>
            </a:pPr>
            <a:r>
              <a:t/>
            </a:r>
            <a:endParaRPr/>
          </a:p>
          <a:p>
            <a:pPr indent="0" lvl="0" marL="914400" rtl="0" algn="l">
              <a:spcBef>
                <a:spcPts val="0"/>
              </a:spcBef>
              <a:spcAft>
                <a:spcPts val="0"/>
              </a:spcAft>
              <a:buNone/>
            </a:pPr>
            <a:r>
              <a:t/>
            </a:r>
            <a:endParaRPr/>
          </a:p>
          <a:p>
            <a:pPr indent="-431800" lvl="0" marL="457200" rtl="0" algn="l">
              <a:spcBef>
                <a:spcPts val="0"/>
              </a:spcBef>
              <a:spcAft>
                <a:spcPts val="0"/>
              </a:spcAft>
              <a:buSzPts val="3200"/>
              <a:buChar char="◼"/>
            </a:pPr>
            <a:r>
              <a:rPr lang="en-US" sz="3200"/>
              <a:t>Security Awareness</a:t>
            </a:r>
            <a:endParaRPr sz="3200"/>
          </a:p>
          <a:p>
            <a:pPr indent="-342900" lvl="1" marL="914400" rtl="0" algn="l">
              <a:spcBef>
                <a:spcPts val="0"/>
              </a:spcBef>
              <a:spcAft>
                <a:spcPts val="0"/>
              </a:spcAft>
              <a:buSzPts val="1800"/>
              <a:buChar char="◼"/>
            </a:pPr>
            <a:r>
              <a:rPr lang="en-US" sz="1800"/>
              <a:t>Training Program</a:t>
            </a:r>
            <a:endParaRPr sz="1800"/>
          </a:p>
          <a:p>
            <a:pPr indent="-342900" lvl="1" marL="914400" rtl="0" algn="l">
              <a:spcBef>
                <a:spcPts val="0"/>
              </a:spcBef>
              <a:spcAft>
                <a:spcPts val="0"/>
              </a:spcAft>
              <a:buSzPts val="1800"/>
              <a:buChar char="◼"/>
            </a:pPr>
            <a:r>
              <a:rPr lang="en-US" sz="1800"/>
              <a:t> Best Practices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2423698" y="604675"/>
            <a:ext cx="7344600" cy="10137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400"/>
              <a:buFont typeface="Gill Sans"/>
              <a:buNone/>
            </a:pPr>
            <a:r>
              <a:rPr b="1" lang="en-US" sz="4300"/>
              <a:t>SECURITY CHALLENGES</a:t>
            </a:r>
            <a:endParaRPr sz="4300"/>
          </a:p>
        </p:txBody>
      </p:sp>
      <p:sp>
        <p:nvSpPr>
          <p:cNvPr id="162" name="Google Shape;162;p9"/>
          <p:cNvSpPr/>
          <p:nvPr/>
        </p:nvSpPr>
        <p:spPr>
          <a:xfrm>
            <a:off x="900375" y="2221475"/>
            <a:ext cx="4347600" cy="356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latin typeface="Gill Sans"/>
                <a:ea typeface="Gill Sans"/>
                <a:cs typeface="Gill Sans"/>
                <a:sym typeface="Gill Sans"/>
              </a:rPr>
              <a:t>Data Security</a:t>
            </a:r>
            <a:endParaRPr sz="3200">
              <a:latin typeface="Gill Sans"/>
              <a:ea typeface="Gill Sans"/>
              <a:cs typeface="Gill Sans"/>
              <a:sym typeface="Gill Sans"/>
            </a:endParaRPr>
          </a:p>
          <a:p>
            <a:pPr indent="0" lvl="0" marL="0" rtl="0" algn="ctr">
              <a:spcBef>
                <a:spcPts val="0"/>
              </a:spcBef>
              <a:spcAft>
                <a:spcPts val="0"/>
              </a:spcAft>
              <a:buNone/>
            </a:pPr>
            <a:r>
              <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Customer Data </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Employee Data </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Proprietary Company Data </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Owner/Franchisee/Licensee Data </a:t>
            </a:r>
            <a:endParaRPr sz="1800">
              <a:latin typeface="Gill Sans"/>
              <a:ea typeface="Gill Sans"/>
              <a:cs typeface="Gill Sans"/>
              <a:sym typeface="Gill Sans"/>
            </a:endParaRPr>
          </a:p>
        </p:txBody>
      </p:sp>
      <p:sp>
        <p:nvSpPr>
          <p:cNvPr id="163" name="Google Shape;163;p9"/>
          <p:cNvSpPr/>
          <p:nvPr/>
        </p:nvSpPr>
        <p:spPr>
          <a:xfrm>
            <a:off x="6255875" y="2221475"/>
            <a:ext cx="4347600" cy="356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latin typeface="Gill Sans"/>
                <a:ea typeface="Gill Sans"/>
                <a:cs typeface="Gill Sans"/>
                <a:sym typeface="Gill Sans"/>
              </a:rPr>
              <a:t>Third Party Risks</a:t>
            </a:r>
            <a:endParaRPr sz="3200">
              <a:latin typeface="Gill Sans"/>
              <a:ea typeface="Gill Sans"/>
              <a:cs typeface="Gill Sans"/>
              <a:sym typeface="Gill Sans"/>
            </a:endParaRPr>
          </a:p>
          <a:p>
            <a:pPr indent="0" lvl="0" marL="0" rtl="0" algn="ctr">
              <a:spcBef>
                <a:spcPts val="0"/>
              </a:spcBef>
              <a:spcAft>
                <a:spcPts val="0"/>
              </a:spcAft>
              <a:buNone/>
            </a:pPr>
            <a:r>
              <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Network of Reservation Vendors</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Help Desk Outsourcing</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Cloud Security</a:t>
            </a:r>
            <a:endParaRPr sz="1800">
              <a:latin typeface="Gill Sans"/>
              <a:ea typeface="Gill Sans"/>
              <a:cs typeface="Gill Sans"/>
              <a:sym typeface="Gill Sans"/>
            </a:endParaRPr>
          </a:p>
          <a:p>
            <a:pPr indent="0" lvl="0" marL="0" rtl="0" algn="ctr">
              <a:spcBef>
                <a:spcPts val="0"/>
              </a:spcBef>
              <a:spcAft>
                <a:spcPts val="0"/>
              </a:spcAft>
              <a:buNone/>
            </a:pPr>
            <a:r>
              <a:t/>
            </a:r>
            <a:endParaRPr sz="3200">
              <a:latin typeface="Gill Sans"/>
              <a:ea typeface="Gill Sans"/>
              <a:cs typeface="Gill Sans"/>
              <a:sym typeface="Gill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52f3651d4c_0_2"/>
          <p:cNvSpPr txBox="1"/>
          <p:nvPr>
            <p:ph type="title"/>
          </p:nvPr>
        </p:nvSpPr>
        <p:spPr>
          <a:xfrm>
            <a:off x="2423698" y="604675"/>
            <a:ext cx="7344600" cy="10137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400"/>
              <a:buFont typeface="Gill Sans"/>
              <a:buNone/>
            </a:pPr>
            <a:r>
              <a:rPr b="1" lang="en-US" sz="4300"/>
              <a:t>SECURITY CHALLENGES</a:t>
            </a:r>
            <a:endParaRPr sz="4300"/>
          </a:p>
        </p:txBody>
      </p:sp>
      <p:sp>
        <p:nvSpPr>
          <p:cNvPr id="169" name="Google Shape;169;g252f3651d4c_0_2"/>
          <p:cNvSpPr/>
          <p:nvPr/>
        </p:nvSpPr>
        <p:spPr>
          <a:xfrm>
            <a:off x="900375" y="2221475"/>
            <a:ext cx="4347600" cy="356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latin typeface="Gill Sans"/>
                <a:ea typeface="Gill Sans"/>
                <a:cs typeface="Gill Sans"/>
                <a:sym typeface="Gill Sans"/>
              </a:rPr>
              <a:t>Insider Threats</a:t>
            </a:r>
            <a:endParaRPr sz="3200">
              <a:latin typeface="Gill Sans"/>
              <a:ea typeface="Gill Sans"/>
              <a:cs typeface="Gill Sans"/>
              <a:sym typeface="Gill Sans"/>
            </a:endParaRPr>
          </a:p>
          <a:p>
            <a:pPr indent="0" lvl="0" marL="0" rtl="0" algn="ctr">
              <a:spcBef>
                <a:spcPts val="0"/>
              </a:spcBef>
              <a:spcAft>
                <a:spcPts val="0"/>
              </a:spcAft>
              <a:buNone/>
            </a:pPr>
            <a:r>
              <a:t/>
            </a:r>
            <a:endParaRPr sz="32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Approximately 377,000 Associates</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Over 8,000 Locations</a:t>
            </a:r>
            <a:endParaRPr sz="1800">
              <a:latin typeface="Gill Sans"/>
              <a:ea typeface="Gill Sans"/>
              <a:cs typeface="Gill Sans"/>
              <a:sym typeface="Gill Sans"/>
            </a:endParaRPr>
          </a:p>
          <a:p>
            <a:pPr indent="0" lvl="0" marL="0" rtl="0" algn="ctr">
              <a:spcBef>
                <a:spcPts val="0"/>
              </a:spcBef>
              <a:spcAft>
                <a:spcPts val="0"/>
              </a:spcAft>
              <a:buNone/>
            </a:pPr>
            <a:r>
              <a:t/>
            </a:r>
            <a:endParaRPr sz="1800">
              <a:latin typeface="Gill Sans"/>
              <a:ea typeface="Gill Sans"/>
              <a:cs typeface="Gill Sans"/>
              <a:sym typeface="Gill Sans"/>
            </a:endParaRPr>
          </a:p>
        </p:txBody>
      </p:sp>
      <p:sp>
        <p:nvSpPr>
          <p:cNvPr id="170" name="Google Shape;170;g252f3651d4c_0_2"/>
          <p:cNvSpPr/>
          <p:nvPr/>
        </p:nvSpPr>
        <p:spPr>
          <a:xfrm>
            <a:off x="6255875" y="2221475"/>
            <a:ext cx="4347600" cy="356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latin typeface="Gill Sans"/>
                <a:ea typeface="Gill Sans"/>
                <a:cs typeface="Gill Sans"/>
                <a:sym typeface="Gill Sans"/>
              </a:rPr>
              <a:t>Regulatory Challenges</a:t>
            </a:r>
            <a:endParaRPr sz="3200">
              <a:latin typeface="Gill Sans"/>
              <a:ea typeface="Gill Sans"/>
              <a:cs typeface="Gill Sans"/>
              <a:sym typeface="Gill Sans"/>
            </a:endParaRPr>
          </a:p>
          <a:p>
            <a:pPr indent="0" lvl="0" marL="0" rtl="0" algn="ctr">
              <a:spcBef>
                <a:spcPts val="0"/>
              </a:spcBef>
              <a:spcAft>
                <a:spcPts val="0"/>
              </a:spcAft>
              <a:buNone/>
            </a:pPr>
            <a:r>
              <a:t/>
            </a:r>
            <a:endParaRPr sz="1800">
              <a:latin typeface="Gill Sans"/>
              <a:ea typeface="Gill Sans"/>
              <a:cs typeface="Gill Sans"/>
              <a:sym typeface="Gill Sans"/>
            </a:endParaRPr>
          </a:p>
          <a:p>
            <a:pPr indent="0" lvl="0" marL="0" rtl="0" algn="ctr">
              <a:spcBef>
                <a:spcPts val="0"/>
              </a:spcBef>
              <a:spcAft>
                <a:spcPts val="0"/>
              </a:spcAft>
              <a:buNone/>
            </a:pPr>
            <a:r>
              <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Operates in 138 Countries</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Increased </a:t>
            </a:r>
            <a:r>
              <a:rPr lang="en-US" sz="1800">
                <a:latin typeface="Gill Sans"/>
                <a:ea typeface="Gill Sans"/>
                <a:cs typeface="Gill Sans"/>
                <a:sym typeface="Gill Sans"/>
              </a:rPr>
              <a:t>Scrutiny</a:t>
            </a:r>
            <a:endParaRPr sz="1800">
              <a:latin typeface="Gill Sans"/>
              <a:ea typeface="Gill Sans"/>
              <a:cs typeface="Gill Sans"/>
              <a:sym typeface="Gill Sans"/>
            </a:endParaRPr>
          </a:p>
          <a:p>
            <a:pPr indent="0" lvl="0" marL="0" rtl="0" algn="ctr">
              <a:spcBef>
                <a:spcPts val="0"/>
              </a:spcBef>
              <a:spcAft>
                <a:spcPts val="0"/>
              </a:spcAft>
              <a:buNone/>
            </a:pPr>
            <a:r>
              <a:rPr lang="en-US" sz="1800">
                <a:latin typeface="Gill Sans"/>
                <a:ea typeface="Gill Sans"/>
                <a:cs typeface="Gill Sans"/>
                <a:sym typeface="Gill Sans"/>
              </a:rPr>
              <a:t>Past Fines</a:t>
            </a:r>
            <a:endParaRPr sz="1800">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1162492" y="566806"/>
            <a:ext cx="11029500" cy="10137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b="1" lang="en-US" sz="4200"/>
              <a:t>BUSINESS &amp; SECURITY ALIGNMENT </a:t>
            </a:r>
            <a:endParaRPr b="1" sz="4200"/>
          </a:p>
        </p:txBody>
      </p:sp>
      <p:sp>
        <p:nvSpPr>
          <p:cNvPr id="176" name="Google Shape;176;p12"/>
          <p:cNvSpPr txBox="1"/>
          <p:nvPr>
            <p:ph idx="1" type="body"/>
          </p:nvPr>
        </p:nvSpPr>
        <p:spPr>
          <a:xfrm>
            <a:off x="581192" y="2180496"/>
            <a:ext cx="11029615" cy="3678303"/>
          </a:xfrm>
          <a:prstGeom prst="rect">
            <a:avLst/>
          </a:prstGeom>
          <a:noFill/>
          <a:ln>
            <a:noFill/>
          </a:ln>
        </p:spPr>
        <p:txBody>
          <a:bodyPr anchorCtr="0" anchor="t" bIns="45700" lIns="91425" spcFirstLastPara="1" rIns="91425" wrap="square" tIns="45700">
            <a:normAutofit/>
          </a:bodyPr>
          <a:lstStyle/>
          <a:p>
            <a:pPr indent="-200844" lvl="0" marL="306000" rtl="0" algn="ctr">
              <a:spcBef>
                <a:spcPts val="0"/>
              </a:spcBef>
              <a:spcAft>
                <a:spcPts val="0"/>
              </a:spcAft>
              <a:buSzPts val="1656"/>
              <a:buNone/>
            </a:pPr>
            <a:r>
              <a:rPr b="1" lang="en-US" sz="2600"/>
              <a:t>Conclusion</a:t>
            </a:r>
            <a:endParaRPr sz="2600"/>
          </a:p>
          <a:p>
            <a:pPr indent="-200844" lvl="0" marL="306000" rtl="0" algn="ctr">
              <a:spcBef>
                <a:spcPts val="0"/>
              </a:spcBef>
              <a:spcAft>
                <a:spcPts val="0"/>
              </a:spcAft>
              <a:buSzPts val="1656"/>
              <a:buNone/>
            </a:pPr>
            <a:r>
              <a:t/>
            </a:r>
            <a:endParaRPr sz="2600"/>
          </a:p>
          <a:p>
            <a:pPr indent="-200844" lvl="0" marL="306000" rtl="0" algn="ctr">
              <a:spcBef>
                <a:spcPts val="0"/>
              </a:spcBef>
              <a:spcAft>
                <a:spcPts val="0"/>
              </a:spcAft>
              <a:buSzPts val="1656"/>
              <a:buNone/>
            </a:pPr>
            <a:r>
              <a:rPr lang="en-US" sz="2600"/>
              <a:t>Communicate Strategic Cybersecurity Plan </a:t>
            </a:r>
            <a:endParaRPr sz="2600"/>
          </a:p>
          <a:p>
            <a:pPr indent="-200844" lvl="0" marL="306000" rtl="0" algn="ctr">
              <a:spcBef>
                <a:spcPts val="0"/>
              </a:spcBef>
              <a:spcAft>
                <a:spcPts val="0"/>
              </a:spcAft>
              <a:buSzPts val="1656"/>
              <a:buNone/>
            </a:pPr>
            <a:r>
              <a:t/>
            </a:r>
            <a:endParaRPr sz="2600"/>
          </a:p>
          <a:p>
            <a:pPr indent="-200844" lvl="0" marL="306000" rtl="0" algn="ctr">
              <a:spcBef>
                <a:spcPts val="0"/>
              </a:spcBef>
              <a:spcAft>
                <a:spcPts val="0"/>
              </a:spcAft>
              <a:buSzPts val="1656"/>
              <a:buNone/>
            </a:pPr>
            <a:r>
              <a:rPr lang="en-US" sz="2600"/>
              <a:t>Create Security Culture </a:t>
            </a:r>
            <a:endParaRPr sz="2600"/>
          </a:p>
          <a:p>
            <a:pPr indent="-200844" lvl="0" marL="306000" rtl="0" algn="ctr">
              <a:spcBef>
                <a:spcPts val="0"/>
              </a:spcBef>
              <a:spcAft>
                <a:spcPts val="0"/>
              </a:spcAft>
              <a:buSzPts val="1656"/>
              <a:buNone/>
            </a:pPr>
            <a:r>
              <a:t/>
            </a:r>
            <a:endParaRPr sz="2600"/>
          </a:p>
          <a:p>
            <a:pPr indent="-200844" lvl="0" marL="306000" rtl="0" algn="ctr">
              <a:spcBef>
                <a:spcPts val="0"/>
              </a:spcBef>
              <a:spcAft>
                <a:spcPts val="0"/>
              </a:spcAft>
              <a:buSzPts val="1656"/>
              <a:buNone/>
            </a:pPr>
            <a:r>
              <a:rPr lang="en-US" sz="2600"/>
              <a:t>Measure Results, Reevaluate Plan, Continuously Innovate and Improve</a:t>
            </a:r>
            <a:endParaRPr sz="2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type="title"/>
          </p:nvPr>
        </p:nvSpPr>
        <p:spPr>
          <a:xfrm>
            <a:off x="3809999" y="688301"/>
            <a:ext cx="5527965"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5400"/>
              <a:buFont typeface="Gill Sans"/>
              <a:buNone/>
            </a:pPr>
            <a:r>
              <a:rPr b="1" lang="en-US" sz="5400"/>
              <a:t>REFERENCES</a:t>
            </a:r>
            <a:endParaRPr/>
          </a:p>
        </p:txBody>
      </p:sp>
      <p:sp>
        <p:nvSpPr>
          <p:cNvPr id="182" name="Google Shape;182;p13"/>
          <p:cNvSpPr txBox="1"/>
          <p:nvPr>
            <p:ph idx="1" type="body"/>
          </p:nvPr>
        </p:nvSpPr>
        <p:spPr>
          <a:xfrm>
            <a:off x="581192" y="2180496"/>
            <a:ext cx="11029615" cy="3678303"/>
          </a:xfrm>
          <a:prstGeom prst="rect">
            <a:avLst/>
          </a:prstGeom>
          <a:noFill/>
          <a:ln>
            <a:noFill/>
          </a:ln>
        </p:spPr>
        <p:txBody>
          <a:bodyPr anchorCtr="0" anchor="t" bIns="45700" lIns="91425" spcFirstLastPara="1" rIns="91425" wrap="square" tIns="45700">
            <a:normAutofit fontScale="77500"/>
          </a:bodyPr>
          <a:lstStyle/>
          <a:p>
            <a:pPr indent="-514350" lvl="0" marL="1028700" rtl="0" algn="l">
              <a:lnSpc>
                <a:spcPct val="200000"/>
              </a:lnSpc>
              <a:spcBef>
                <a:spcPts val="0"/>
              </a:spcBef>
              <a:spcAft>
                <a:spcPts val="0"/>
              </a:spcAft>
              <a:buSzPct val="61111"/>
              <a:buNone/>
            </a:pPr>
            <a:r>
              <a:rPr i="1" lang="en-US">
                <a:solidFill>
                  <a:schemeClr val="dk1"/>
                </a:solidFill>
              </a:rPr>
              <a:t>Data Breach Investigations Report (DBIR)</a:t>
            </a:r>
            <a:r>
              <a:rPr lang="en-US">
                <a:solidFill>
                  <a:schemeClr val="dk1"/>
                </a:solidFill>
              </a:rPr>
              <a:t>. (2023). Verizon Enterprise Solutions. </a:t>
            </a:r>
            <a:r>
              <a:rPr lang="en-US" u="sng">
                <a:solidFill>
                  <a:schemeClr val="hlink"/>
                </a:solidFill>
                <a:hlinkClick r:id="rId3"/>
              </a:rPr>
              <a:t>https://www.verizon.com/business/resources/T4dc/reports/2023-data-breach-investigations-report-dbir.pdf</a:t>
            </a:r>
            <a:endParaRPr>
              <a:solidFill>
                <a:schemeClr val="dk1"/>
              </a:solidFill>
            </a:endParaRPr>
          </a:p>
          <a:p>
            <a:pPr indent="-514350" lvl="0" marL="1028700" rtl="0" algn="l">
              <a:lnSpc>
                <a:spcPct val="200000"/>
              </a:lnSpc>
              <a:spcBef>
                <a:spcPts val="0"/>
              </a:spcBef>
              <a:spcAft>
                <a:spcPts val="0"/>
              </a:spcAft>
              <a:buSzPct val="61111"/>
              <a:buNone/>
            </a:pPr>
            <a:r>
              <a:t/>
            </a:r>
            <a:endParaRPr>
              <a:solidFill>
                <a:schemeClr val="dk1"/>
              </a:solidFill>
            </a:endParaRPr>
          </a:p>
          <a:p>
            <a:pPr indent="-457200" lvl="0" marL="914400" rtl="0" algn="l">
              <a:lnSpc>
                <a:spcPct val="200000"/>
              </a:lnSpc>
              <a:spcBef>
                <a:spcPts val="0"/>
              </a:spcBef>
              <a:spcAft>
                <a:spcPts val="0"/>
              </a:spcAft>
              <a:buSzPct val="61111"/>
              <a:buNone/>
            </a:pPr>
            <a:r>
              <a:rPr i="1" lang="en-US">
                <a:solidFill>
                  <a:schemeClr val="dk1"/>
                </a:solidFill>
              </a:rPr>
              <a:t>General Data Protection Regulation (GDPR) – Official Legal Text</a:t>
            </a:r>
            <a:r>
              <a:rPr lang="en-US">
                <a:solidFill>
                  <a:schemeClr val="dk1"/>
                </a:solidFill>
              </a:rPr>
              <a:t>. (2022, September 27). General Data Protection Regulation (GDPR). </a:t>
            </a:r>
            <a:r>
              <a:rPr lang="en-US" u="sng">
                <a:solidFill>
                  <a:schemeClr val="hlink"/>
                </a:solidFill>
                <a:hlinkClick r:id="rId4"/>
              </a:rPr>
              <a:t>https://gdpr-info.eu/</a:t>
            </a:r>
            <a:endParaRPr>
              <a:solidFill>
                <a:schemeClr val="dk1"/>
              </a:solidFill>
            </a:endParaRPr>
          </a:p>
          <a:p>
            <a:pPr indent="-457200" lvl="0" marL="914400" rtl="0" algn="l">
              <a:lnSpc>
                <a:spcPct val="200000"/>
              </a:lnSpc>
              <a:spcBef>
                <a:spcPts val="0"/>
              </a:spcBef>
              <a:spcAft>
                <a:spcPts val="0"/>
              </a:spcAft>
              <a:buSzPct val="61111"/>
              <a:buNone/>
            </a:pPr>
            <a:r>
              <a:t/>
            </a:r>
            <a:endParaRPr>
              <a:solidFill>
                <a:schemeClr val="dk1"/>
              </a:solidFill>
            </a:endParaRPr>
          </a:p>
          <a:p>
            <a:pPr indent="0" lvl="0" marL="457200" rtl="0" algn="l">
              <a:lnSpc>
                <a:spcPct val="200000"/>
              </a:lnSpc>
              <a:spcBef>
                <a:spcPts val="0"/>
              </a:spcBef>
              <a:spcAft>
                <a:spcPts val="0"/>
              </a:spcAft>
              <a:buSzPct val="61111"/>
              <a:buNone/>
            </a:pPr>
            <a:r>
              <a:rPr i="1" lang="en-US">
                <a:solidFill>
                  <a:schemeClr val="dk1"/>
                </a:solidFill>
              </a:rPr>
              <a:t>Marriott International: 2022 Annual Report</a:t>
            </a:r>
            <a:r>
              <a:rPr lang="en-US">
                <a:solidFill>
                  <a:schemeClr val="dk1"/>
                </a:solidFill>
              </a:rPr>
              <a:t>. (2023).</a:t>
            </a:r>
            <a:r>
              <a:rPr lang="en-US">
                <a:solidFill>
                  <a:schemeClr val="dk1"/>
                </a:solidFill>
                <a:uFill>
                  <a:noFill/>
                </a:uFill>
                <a:hlinkClick r:id="rId5">
                  <a:extLst>
                    <a:ext uri="{A12FA001-AC4F-418D-AE19-62706E023703}">
                      <ahyp:hlinkClr val="tx"/>
                    </a:ext>
                  </a:extLst>
                </a:hlinkClick>
              </a:rPr>
              <a:t> </a:t>
            </a:r>
            <a:r>
              <a:rPr lang="en-US" u="sng">
                <a:solidFill>
                  <a:schemeClr val="hlink"/>
                </a:solidFill>
                <a:hlinkClick r:id="rId6"/>
              </a:rPr>
              <a:t>https://marriott.gcs-web.com/static-files/b82978a6-9d28-4e38-9855-fc4ae2cebe11</a:t>
            </a:r>
            <a:endParaRPr u="sng">
              <a:solidFill>
                <a:schemeClr val="hlink"/>
              </a:solidFill>
            </a:endParaRPr>
          </a:p>
          <a:p>
            <a:pPr indent="0" lvl="0" marL="457200" rtl="0" algn="l">
              <a:lnSpc>
                <a:spcPct val="200000"/>
              </a:lnSpc>
              <a:spcBef>
                <a:spcPts val="0"/>
              </a:spcBef>
              <a:spcAft>
                <a:spcPts val="0"/>
              </a:spcAft>
              <a:buClr>
                <a:schemeClr val="dk1"/>
              </a:buClr>
              <a:buSzPct val="100000"/>
              <a:buFont typeface="Arial"/>
              <a:buNone/>
            </a:pPr>
            <a:r>
              <a:t/>
            </a:r>
            <a:endParaRPr sz="1100">
              <a:solidFill>
                <a:schemeClr val="dk1"/>
              </a:solidFill>
              <a:latin typeface="Calibri"/>
              <a:ea typeface="Calibri"/>
              <a:cs typeface="Calibri"/>
              <a:sym typeface="Calibri"/>
            </a:endParaRPr>
          </a:p>
          <a:p>
            <a:pPr indent="-200844" lvl="0" marL="306000" rtl="0" algn="l">
              <a:spcBef>
                <a:spcPts val="0"/>
              </a:spcBef>
              <a:spcAft>
                <a:spcPts val="0"/>
              </a:spcAft>
              <a:buSzPct val="91999"/>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2023-06-12T23:59:16Z</dcterms:created>
  <dc:creator>Shaquilla Chambers</dc:creator>
</cp:coreProperties>
</file>